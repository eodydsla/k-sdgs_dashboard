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7" d="100"/>
          <a:sy n="147" d="100"/>
        </p:scale>
        <p:origin x="774" y="126"/>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16384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제4차 지속가능발전 기본계획의 목표 체계를 데이터베이스로 옮기고 공개 화면까지 만든 작업입니다. 아래 숫자는 전부 지금 DB를 세어 만든 값입니다.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장이 이 작업의 방향입니다. 흔히 「사람이 데이터를 만들고 AI가 활용한다」고 나누는데, 실제로는 그렇지 않았습니다. PDF 원문에서 지표와 값을 뽑아낸 것도, 평가보고서의 날씨 아이콘을 판독한 것도, 출처끼리 대조해 어긋난 곳을 찾아낸 것도 AI입니다. 사람 손으로는 그 양을 감당할 수 없습니다. 갈리는 것은 단계가 아니라 판단입니다 — 어떤 자료를 쓸지, 두 출처가 다를 때 어느 쪽이 맞는지, 어디까지 믿고 내보낼지는 사람이 정합니다. 그래서 규칙을 사람이 먼저 세웠습니다. 기준값과 목표값은 자동으로 고치지 않는다, 출처가 어긋나면 억지로 맞추지 말고 아예 싣지 않는다, 사람이 아직 보지 않은 것은 검수 전이라고 화면에 표시한다 — 이 세 가지입니다.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사이트가 무엇을 할 수 있는지 한 장으로 보여주는 장입니다. 윗줄이 이행현황을 보는 기본 흐름입니다 — 목표를 훑고, 지표를 찾고, 지표 하나를 열어 보고, 본 것을 받아 갑니다. 아랫줄은 지표만으로는 답이 안 되는 질문에 붙인 것들입니다 — 무엇으로 재나, 국제 기준과는 어떻게 다른가, 무엇이 이 목표를 흔드나, 어떤 계획이 이 목표를 다루나. 뒤 장에서 하나씩 다시 설명하니 여기서는 전체 지도만 보시면 됩니다.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계층은 부문 4 · 목표 17 · 세부목표 119 · 지표 236 입니다. 여기서 중요한 것은 지표 236개의 성격이 다르다는 점입니다. 정성 97개는 「지속 감소」처럼 서술형이라 진행률을 낼 수 없습니다. 그 자리를 빈칸으로 두면 자료 누락처럼 보이므로 원문 문구를 그대로 보여줍니다.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출처가 하나가 아닙니다. 계획 원문이 뿌리이고, 공식 화면에서 표기와 값을 보완하고, 2024 국가지속가능성 평가에서 최신 실적을 가져오고, UN 지표체계는 국제 기준 대조용입니다. 출처가 여럿이라 대조가 필요했습니다.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시간이 가장 오래 걸린 일이 여기 있습니다. 옮기는 것이 아니라 대조하는 것입니다. 어긋난 곳을 찾아내는 일은 기계가 했습니다 — 행정계획 첨부는 전수로 첫 쪽을 읽어 계획 이름과 맞춰 봤더니 거리두기 안내문, 결재 공문, 아예 다른 계획 문서가 섞여 있었습니다. 다만 명백히 다른 것을 뗄지, 확신할 수 없는 것을 「미흡」으로 낮출지는 사람이 정한 규칙입니다. 그리고 사람이 첨부를 직접 열어 판정을 바꾸면, 그 판정이 기계 판정을 이기고 다시 돌려도 지워지지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달성도와 목표순항도는 다른 질문에 답합니다. 달성도는 지금 위치, 목표순항도는 방향입니다. 값이 나빠도 개선 중이면 「맑음」이고, 값이 좋아도 정체하면 「흐림」입니다. 두 축이 같은 것을 말한다고 읽히지 않도록 색도 일부러 다르게 잡았습니다.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K-SDGs 지표가 국제적으로 몇 번인지를 잇는 대응표입니다. 여기서 꼭 짚을 것은 최상위 등급이 「동일」이 아니라 「근접」이라는 점입니다. K-SDGs는 국내 통계와 제도에 맞춰 다시 쓴 것이라 정의까지 같은 지표는 없습니다. 그리고 이 대응표는 정부 공표 자료가 아니라 이 포털의 판정이며, 화면에 그렇게 밝혀 두었습니다.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지표만으로는 답이 안 되는 질문 세 가지를 붙였습니다. 무엇이 목표를 흔드는가(미래변화분석), 어떤 계획이 이 목표를 다루는가(행정계획), 무엇으로 잴 수 있는가(데이터맵)입니다. 세 가지 모두 이 포털의 해석이고 아직 검수 전입니다.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스크립트로 한 번 만들고 끝나는 자료가 아닙니다. 화면에서 계속 고칠 수 있어야 살아 있는 데이터가 됩니다. 다만 아무렇게나 고쳐지지는 않습니다 — 근거 문장 없는 연결은 저장 자체가 거부되고, 모든 변경은 이력에 남으며, 사람이 내린 판정은 스크립트를 다시 돌려도 지워지지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여기서 꼭 짚을 것은 이 자료가 한 번 만들고 끝나지 않는다는 점입니다. 국가지속가능성 평가가 2년마다 새로 나오고, 그때마다 실적값과 목표순항도를 다시 넣어야 합니다. 지금 첫 판은 사람이 규칙을 정해 가며 만들었습니다. 다음 판부터는 그 규칙이 이미 코드로 있으니 새 보고서를 읽어 들이는 일 자체는 자동으로 돌릴 수 있습니다. 다만 자동화해도 확인하는 자리는 남깁니다 — 전부 그냥 덮어쓰는 것이 아니라 「지난번과 달라진 곳」만 사람에게 올려서 확인받는 구조가 목표입니다. 그래야 갱신이 빨라지면서도 2장에서 말한 원칙 — 판단은 사람이 한다 — 이 지켜집니다.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2331720"/>
          </a:xfrm>
          <a:prstGeom prst="rect">
            <a:avLst/>
          </a:prstGeom>
          <a:solidFill>
            <a:srgbClr val="0A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658368"/>
            <a:ext cx="10058400" cy="365760"/>
          </a:xfrm>
          <a:prstGeom prst="rect">
            <a:avLst/>
          </a:prstGeom>
          <a:noFill/>
        </p:spPr>
        <p:txBody>
          <a:bodyPr wrap="square" lIns="0" tIns="0" rIns="0" bIns="0" anchor="t">
            <a:spAutoFit/>
          </a:bodyPr>
          <a:lstStyle/>
          <a:p>
            <a:pPr algn="l">
              <a:lnSpc>
                <a:spcPct val="135000"/>
              </a:lnSpc>
            </a:pPr>
            <a:r>
              <a:rPr sz="1400" b="0">
                <a:solidFill>
                  <a:srgbClr val="9FC5DC"/>
                </a:solidFill>
                <a:latin typeface="NanumGothic"/>
              </a:rPr>
              <a:t>국가지속가능발전연구센터</a:t>
            </a:r>
          </a:p>
        </p:txBody>
      </p:sp>
      <p:sp>
        <p:nvSpPr>
          <p:cNvPr id="5" name="TextBox 4"/>
          <p:cNvSpPr txBox="1"/>
          <p:nvPr/>
        </p:nvSpPr>
        <p:spPr>
          <a:xfrm>
            <a:off x="1005840" y="1060704"/>
            <a:ext cx="10515600" cy="822960"/>
          </a:xfrm>
          <a:prstGeom prst="rect">
            <a:avLst/>
          </a:prstGeom>
          <a:noFill/>
        </p:spPr>
        <p:txBody>
          <a:bodyPr wrap="square" lIns="0" tIns="0" rIns="0" bIns="0" anchor="t">
            <a:spAutoFit/>
          </a:bodyPr>
          <a:lstStyle/>
          <a:p>
            <a:pPr algn="l">
              <a:lnSpc>
                <a:spcPct val="135000"/>
              </a:lnSpc>
            </a:pPr>
            <a:r>
              <a:rPr sz="4400" b="1" dirty="0">
                <a:solidFill>
                  <a:srgbClr val="FFFFFF"/>
                </a:solidFill>
                <a:latin typeface="NanumGothic"/>
              </a:rPr>
              <a:t>SDGs </a:t>
            </a:r>
            <a:r>
              <a:rPr sz="4400" b="1" dirty="0" err="1">
                <a:solidFill>
                  <a:srgbClr val="FFFFFF"/>
                </a:solidFill>
                <a:latin typeface="NanumGothic"/>
              </a:rPr>
              <a:t>대시보드</a:t>
            </a:r>
            <a:r>
              <a:rPr sz="4400" b="1" dirty="0">
                <a:solidFill>
                  <a:srgbClr val="FFFFFF"/>
                </a:solidFill>
                <a:latin typeface="NanumGothic"/>
              </a:rPr>
              <a:t> 및 DB </a:t>
            </a:r>
            <a:r>
              <a:rPr sz="4400" b="1" dirty="0" err="1">
                <a:solidFill>
                  <a:srgbClr val="FFFFFF"/>
                </a:solidFill>
                <a:latin typeface="NanumGothic"/>
              </a:rPr>
              <a:t>구축</a:t>
            </a:r>
            <a:endParaRPr sz="4400" b="1" dirty="0">
              <a:solidFill>
                <a:srgbClr val="FFFFFF"/>
              </a:solidFill>
              <a:latin typeface="NanumGothic"/>
            </a:endParaRPr>
          </a:p>
        </p:txBody>
      </p:sp>
      <p:sp>
        <p:nvSpPr>
          <p:cNvPr id="6" name="TextBox 5"/>
          <p:cNvSpPr txBox="1"/>
          <p:nvPr/>
        </p:nvSpPr>
        <p:spPr>
          <a:xfrm>
            <a:off x="1005840" y="2788920"/>
            <a:ext cx="10241280" cy="822960"/>
          </a:xfrm>
          <a:prstGeom prst="rect">
            <a:avLst/>
          </a:prstGeom>
          <a:noFill/>
        </p:spPr>
        <p:txBody>
          <a:bodyPr wrap="square" lIns="0" tIns="0" rIns="0" bIns="0" anchor="t">
            <a:spAutoFit/>
          </a:bodyPr>
          <a:lstStyle/>
          <a:p>
            <a:pPr algn="l">
              <a:lnSpc>
                <a:spcPct val="150000"/>
              </a:lnSpc>
            </a:pPr>
            <a:r>
              <a:rPr sz="1700" b="0">
                <a:solidFill>
                  <a:srgbClr val="1A1D21"/>
                </a:solidFill>
                <a:latin typeface="NanumGothic"/>
              </a:rPr>
              <a:t>제4차 지속가능발전 기본계획(2021~2040)의 </a:t>
            </a:r>
            <a:r>
              <a:rPr sz="1700" b="1">
                <a:solidFill>
                  <a:srgbClr val="0A3D5C"/>
                </a:solidFill>
                <a:latin typeface="NanumGothic"/>
              </a:rPr>
              <a:t>목표 체계와 이행 현황</a:t>
            </a:r>
            <a:r>
              <a:rPr sz="1700" b="0">
                <a:solidFill>
                  <a:srgbClr val="1A1D21"/>
                </a:solidFill>
                <a:latin typeface="NanumGothic"/>
              </a:rPr>
              <a:t>을</a:t>
            </a:r>
          </a:p>
          <a:p>
            <a:pPr algn="l">
              <a:lnSpc>
                <a:spcPct val="150000"/>
              </a:lnSpc>
            </a:pPr>
            <a:r>
              <a:rPr sz="1700" b="0">
                <a:solidFill>
                  <a:srgbClr val="1A1D21"/>
                </a:solidFill>
                <a:latin typeface="NanumGothic"/>
              </a:rPr>
              <a:t>흩어진 문서에서 데이터베이스로 옮기고, 누구나 볼 수 있는 화면으로 만들었습니다.</a:t>
            </a:r>
          </a:p>
        </p:txBody>
      </p:sp>
      <p:sp>
        <p:nvSpPr>
          <p:cNvPr id="7" name="Rounded Rectangle 6"/>
          <p:cNvSpPr/>
          <p:nvPr/>
        </p:nvSpPr>
        <p:spPr>
          <a:xfrm>
            <a:off x="1005840" y="4069080"/>
            <a:ext cx="2468880" cy="1097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005840" y="4069080"/>
            <a:ext cx="2468880" cy="64008"/>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4325112"/>
            <a:ext cx="246888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지표 체계</a:t>
            </a:r>
          </a:p>
        </p:txBody>
      </p:sp>
      <p:sp>
        <p:nvSpPr>
          <p:cNvPr id="10" name="TextBox 9"/>
          <p:cNvSpPr txBox="1"/>
          <p:nvPr/>
        </p:nvSpPr>
        <p:spPr>
          <a:xfrm>
            <a:off x="1005840" y="4718304"/>
            <a:ext cx="2468880" cy="274320"/>
          </a:xfrm>
          <a:prstGeom prst="rect">
            <a:avLst/>
          </a:prstGeom>
          <a:noFill/>
        </p:spPr>
        <p:txBody>
          <a:bodyPr wrap="square" lIns="0" tIns="0" rIns="0" bIns="0" anchor="t">
            <a:spAutoFit/>
          </a:bodyPr>
          <a:lstStyle/>
          <a:p>
            <a:pPr algn="ctr">
              <a:lnSpc>
                <a:spcPct val="135000"/>
              </a:lnSpc>
            </a:pPr>
            <a:r>
              <a:rPr sz="1100" b="0">
                <a:solidFill>
                  <a:srgbClr val="6C757D"/>
                </a:solidFill>
                <a:latin typeface="NanumGothic"/>
              </a:rPr>
              <a:t>목표부터 지표까지</a:t>
            </a:r>
          </a:p>
        </p:txBody>
      </p:sp>
      <p:sp>
        <p:nvSpPr>
          <p:cNvPr id="11" name="Rounded Rectangle 10"/>
          <p:cNvSpPr/>
          <p:nvPr/>
        </p:nvSpPr>
        <p:spPr>
          <a:xfrm>
            <a:off x="3593592" y="4069080"/>
            <a:ext cx="2468880" cy="1097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593592" y="4069080"/>
            <a:ext cx="2468880" cy="64008"/>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93592" y="4325112"/>
            <a:ext cx="246888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실적과 목표</a:t>
            </a:r>
          </a:p>
        </p:txBody>
      </p:sp>
      <p:sp>
        <p:nvSpPr>
          <p:cNvPr id="14" name="TextBox 13"/>
          <p:cNvSpPr txBox="1"/>
          <p:nvPr/>
        </p:nvSpPr>
        <p:spPr>
          <a:xfrm>
            <a:off x="3593592" y="4718304"/>
            <a:ext cx="2468880" cy="274320"/>
          </a:xfrm>
          <a:prstGeom prst="rect">
            <a:avLst/>
          </a:prstGeom>
          <a:noFill/>
        </p:spPr>
        <p:txBody>
          <a:bodyPr wrap="square" lIns="0" tIns="0" rIns="0" bIns="0" anchor="t">
            <a:spAutoFit/>
          </a:bodyPr>
          <a:lstStyle/>
          <a:p>
            <a:pPr algn="ctr">
              <a:lnSpc>
                <a:spcPct val="135000"/>
              </a:lnSpc>
            </a:pPr>
            <a:r>
              <a:rPr sz="1100" b="0">
                <a:solidFill>
                  <a:srgbClr val="6C757D"/>
                </a:solidFill>
                <a:latin typeface="NanumGothic"/>
              </a:rPr>
              <a:t>지금 어디까지 왔나</a:t>
            </a:r>
          </a:p>
        </p:txBody>
      </p:sp>
      <p:sp>
        <p:nvSpPr>
          <p:cNvPr id="15" name="Rounded Rectangle 14"/>
          <p:cNvSpPr/>
          <p:nvPr/>
        </p:nvSpPr>
        <p:spPr>
          <a:xfrm>
            <a:off x="6181344" y="4069080"/>
            <a:ext cx="2468880" cy="1097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181344" y="4069080"/>
            <a:ext cx="2468880" cy="6400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81344" y="4325112"/>
            <a:ext cx="246888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국제 기준 대응</a:t>
            </a:r>
          </a:p>
        </p:txBody>
      </p:sp>
      <p:sp>
        <p:nvSpPr>
          <p:cNvPr id="18" name="TextBox 17"/>
          <p:cNvSpPr txBox="1"/>
          <p:nvPr/>
        </p:nvSpPr>
        <p:spPr>
          <a:xfrm>
            <a:off x="6181344" y="4718304"/>
            <a:ext cx="2468880" cy="274320"/>
          </a:xfrm>
          <a:prstGeom prst="rect">
            <a:avLst/>
          </a:prstGeom>
          <a:noFill/>
        </p:spPr>
        <p:txBody>
          <a:bodyPr wrap="square" lIns="0" tIns="0" rIns="0" bIns="0" anchor="t">
            <a:spAutoFit/>
          </a:bodyPr>
          <a:lstStyle/>
          <a:p>
            <a:pPr algn="ctr">
              <a:lnSpc>
                <a:spcPct val="135000"/>
              </a:lnSpc>
            </a:pPr>
            <a:r>
              <a:rPr sz="1100" b="0">
                <a:solidFill>
                  <a:srgbClr val="6C757D"/>
                </a:solidFill>
                <a:latin typeface="NanumGothic"/>
              </a:rPr>
              <a:t>UN-SDGs와 견주어</a:t>
            </a:r>
          </a:p>
        </p:txBody>
      </p:sp>
      <p:sp>
        <p:nvSpPr>
          <p:cNvPr id="19" name="Rounded Rectangle 18"/>
          <p:cNvSpPr/>
          <p:nvPr/>
        </p:nvSpPr>
        <p:spPr>
          <a:xfrm>
            <a:off x="8769096" y="4069080"/>
            <a:ext cx="2468880" cy="109728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769096" y="4069080"/>
            <a:ext cx="2468880" cy="64008"/>
          </a:xfrm>
          <a:prstGeom prst="rect">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69096" y="4325112"/>
            <a:ext cx="246888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행정계획 원문</a:t>
            </a:r>
          </a:p>
        </p:txBody>
      </p:sp>
      <p:sp>
        <p:nvSpPr>
          <p:cNvPr id="22" name="TextBox 21"/>
          <p:cNvSpPr txBox="1"/>
          <p:nvPr/>
        </p:nvSpPr>
        <p:spPr>
          <a:xfrm>
            <a:off x="8769096" y="4718304"/>
            <a:ext cx="2468880" cy="274320"/>
          </a:xfrm>
          <a:prstGeom prst="rect">
            <a:avLst/>
          </a:prstGeom>
          <a:noFill/>
        </p:spPr>
        <p:txBody>
          <a:bodyPr wrap="square" lIns="0" tIns="0" rIns="0" bIns="0" anchor="t">
            <a:spAutoFit/>
          </a:bodyPr>
          <a:lstStyle/>
          <a:p>
            <a:pPr algn="ctr">
              <a:lnSpc>
                <a:spcPct val="135000"/>
              </a:lnSpc>
            </a:pPr>
            <a:r>
              <a:rPr sz="1100" b="0">
                <a:solidFill>
                  <a:srgbClr val="6C757D"/>
                </a:solidFill>
                <a:latin typeface="NanumGothic"/>
              </a:rPr>
              <a:t>어떤 계획이 다루나</a:t>
            </a:r>
          </a:p>
        </p:txBody>
      </p:sp>
      <p:sp>
        <p:nvSpPr>
          <p:cNvPr id="23" name="Rectangle 22"/>
          <p:cNvSpPr/>
          <p:nvPr/>
        </p:nvSpPr>
        <p:spPr>
          <a:xfrm>
            <a:off x="1005840" y="5715000"/>
            <a:ext cx="10149840"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897880"/>
            <a:ext cx="10149840" cy="365760"/>
          </a:xfrm>
          <a:prstGeom prst="rect">
            <a:avLst/>
          </a:prstGeom>
          <a:noFill/>
        </p:spPr>
        <p:txBody>
          <a:bodyPr wrap="square" lIns="0" tIns="0" rIns="0" bIns="0" anchor="t">
            <a:spAutoFit/>
          </a:bodyPr>
          <a:lstStyle/>
          <a:p>
            <a:pPr algn="l">
              <a:lnSpc>
                <a:spcPct val="135000"/>
              </a:lnSpc>
            </a:pPr>
            <a:r>
              <a:rPr sz="1250" b="0">
                <a:solidFill>
                  <a:srgbClr val="6C757D"/>
                </a:solidFill>
                <a:latin typeface="NanumGothic"/>
              </a:rPr>
              <a:t>공개 화면 · 관리자 편집 · 원본 대조 기록을 한 곳에서</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02</a:t>
            </a:r>
          </a:p>
        </p:txBody>
      </p:sp>
      <p:sp>
        <p:nvSpPr>
          <p:cNvPr id="4" name="TextBox 3"/>
          <p:cNvSpPr txBox="1"/>
          <p:nvPr/>
        </p:nvSpPr>
        <p:spPr>
          <a:xfrm>
            <a:off x="1371600" y="502920"/>
            <a:ext cx="9966960" cy="559769"/>
          </a:xfrm>
          <a:prstGeom prst="rect">
            <a:avLst/>
          </a:prstGeom>
          <a:noFill/>
        </p:spPr>
        <p:txBody>
          <a:bodyPr wrap="square" lIns="0" tIns="0" rIns="0" bIns="0" anchor="t">
            <a:spAutoFit/>
          </a:bodyPr>
          <a:lstStyle/>
          <a:p>
            <a:pPr algn="l">
              <a:lnSpc>
                <a:spcPct val="135000"/>
              </a:lnSpc>
            </a:pPr>
            <a:r>
              <a:rPr sz="3000" b="1" dirty="0" err="1">
                <a:solidFill>
                  <a:srgbClr val="0A3D5C"/>
                </a:solidFill>
                <a:latin typeface="나눔고딕" panose="020D0604000000000000" pitchFamily="50" charset="-127"/>
                <a:ea typeface="나눔고딕" panose="020D0604000000000000" pitchFamily="50" charset="-127"/>
              </a:rPr>
              <a:t>추구하는</a:t>
            </a:r>
            <a:r>
              <a:rPr sz="3000" b="1" dirty="0">
                <a:solidFill>
                  <a:srgbClr val="0A3D5C"/>
                </a:solidFill>
                <a:latin typeface="나눔고딕" panose="020D0604000000000000" pitchFamily="50" charset="-127"/>
                <a:ea typeface="나눔고딕" panose="020D0604000000000000" pitchFamily="50" charset="-127"/>
              </a:rPr>
              <a:t> </a:t>
            </a:r>
            <a:r>
              <a:rPr lang="ko-KR" altLang="en-US" sz="3000" b="1" dirty="0">
                <a:solidFill>
                  <a:srgbClr val="0A3D5C"/>
                </a:solidFill>
                <a:latin typeface="나눔고딕" panose="020D0604000000000000" pitchFamily="50" charset="-127"/>
                <a:ea typeface="나눔고딕" panose="020D0604000000000000" pitchFamily="50" charset="-127"/>
              </a:rPr>
              <a:t>전환 </a:t>
            </a:r>
            <a:r>
              <a:rPr sz="3000" b="1" dirty="0" err="1">
                <a:solidFill>
                  <a:srgbClr val="0A3D5C"/>
                </a:solidFill>
                <a:latin typeface="나눔고딕" panose="020D0604000000000000" pitchFamily="50" charset="-127"/>
                <a:ea typeface="나눔고딕" panose="020D0604000000000000" pitchFamily="50" charset="-127"/>
              </a:rPr>
              <a:t>방향</a:t>
            </a:r>
            <a:r>
              <a:rPr sz="3000" b="1" dirty="0">
                <a:solidFill>
                  <a:srgbClr val="0A3D5C"/>
                </a:solidFill>
                <a:latin typeface="나눔고딕" panose="020D0604000000000000" pitchFamily="50" charset="-127"/>
                <a:ea typeface="나눔고딕" panose="020D0604000000000000" pitchFamily="50" charset="-127"/>
              </a:rPr>
              <a:t> — </a:t>
            </a:r>
            <a:r>
              <a:rPr lang="ko-KR" altLang="en-US" sz="3000" b="1" dirty="0">
                <a:solidFill>
                  <a:srgbClr val="0A3D5C"/>
                </a:solidFill>
                <a:latin typeface="나눔고딕" panose="020D0604000000000000" pitchFamily="50" charset="-127"/>
                <a:ea typeface="나눔고딕" panose="020D0604000000000000" pitchFamily="50" charset="-127"/>
              </a:rPr>
              <a:t>구축은 </a:t>
            </a:r>
            <a:r>
              <a:rPr sz="3000" b="1" dirty="0" err="1">
                <a:solidFill>
                  <a:srgbClr val="0A3D5C"/>
                </a:solidFill>
                <a:latin typeface="나눔고딕" panose="020D0604000000000000" pitchFamily="50" charset="-127"/>
                <a:ea typeface="나눔고딕" panose="020D0604000000000000" pitchFamily="50" charset="-127"/>
              </a:rPr>
              <a:t>AI가</a:t>
            </a:r>
            <a:r>
              <a:rPr sz="3000" b="1" dirty="0">
                <a:solidFill>
                  <a:srgbClr val="0A3D5C"/>
                </a:solidFill>
                <a:latin typeface="나눔고딕" panose="020D0604000000000000" pitchFamily="50" charset="-127"/>
                <a:ea typeface="나눔고딕" panose="020D0604000000000000" pitchFamily="50" charset="-127"/>
              </a:rPr>
              <a:t>, </a:t>
            </a:r>
            <a:r>
              <a:rPr sz="3000" b="1" dirty="0" err="1">
                <a:solidFill>
                  <a:srgbClr val="0A3D5C"/>
                </a:solidFill>
                <a:latin typeface="NanumGothic"/>
              </a:rPr>
              <a:t>판단은</a:t>
            </a:r>
            <a:r>
              <a:rPr sz="3000" b="1" dirty="0">
                <a:solidFill>
                  <a:srgbClr val="0A3D5C"/>
                </a:solidFill>
                <a:latin typeface="NanumGothic"/>
              </a:rPr>
              <a:t> </a:t>
            </a:r>
            <a:r>
              <a:rPr sz="3000" b="1" dirty="0" err="1">
                <a:solidFill>
                  <a:srgbClr val="0A3D5C"/>
                </a:solidFill>
                <a:latin typeface="NanumGothic"/>
              </a:rPr>
              <a:t>사람이</a:t>
            </a:r>
            <a:endParaRPr sz="3000" b="1" dirty="0">
              <a:solidFill>
                <a:srgbClr val="0A3D5C"/>
              </a:solidFill>
              <a:latin typeface="NanumGothic"/>
            </a:endParaRP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둘 다 데이터를 만들고 둘 다 씁니다. 갈리는 것은 「무엇이 맞는지 정하는 일」입니다.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286000"/>
            <a:ext cx="3383280" cy="2057400"/>
          </a:xfrm>
          <a:prstGeom prst="roundRect">
            <a:avLst>
              <a:gd name="adj" fmla="val 6000"/>
            </a:avLst>
          </a:prstGeom>
          <a:solidFill>
            <a:srgbClr val="ECF4F9"/>
          </a:solidFill>
          <a:ln w="15875">
            <a:solidFill>
              <a:srgbClr val="0068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505456"/>
            <a:ext cx="3383280" cy="411480"/>
          </a:xfrm>
          <a:prstGeom prst="rect">
            <a:avLst/>
          </a:prstGeom>
          <a:noFill/>
        </p:spPr>
        <p:txBody>
          <a:bodyPr wrap="square" lIns="0" tIns="0" rIns="0" bIns="0" anchor="t">
            <a:spAutoFit/>
          </a:bodyPr>
          <a:lstStyle/>
          <a:p>
            <a:pPr algn="ctr">
              <a:lnSpc>
                <a:spcPct val="135000"/>
              </a:lnSpc>
            </a:pPr>
            <a:r>
              <a:rPr sz="2500" b="1">
                <a:solidFill>
                  <a:srgbClr val="0A3D5C"/>
                </a:solidFill>
                <a:latin typeface="NanumGothic"/>
              </a:rPr>
              <a:t>사람</a:t>
            </a:r>
          </a:p>
        </p:txBody>
      </p:sp>
      <p:sp>
        <p:nvSpPr>
          <p:cNvPr id="9" name="TextBox 8"/>
          <p:cNvSpPr txBox="1"/>
          <p:nvPr/>
        </p:nvSpPr>
        <p:spPr>
          <a:xfrm>
            <a:off x="777240" y="2980944"/>
            <a:ext cx="3383280" cy="261225"/>
          </a:xfrm>
          <a:prstGeom prst="rect">
            <a:avLst/>
          </a:prstGeom>
          <a:noFill/>
        </p:spPr>
        <p:txBody>
          <a:bodyPr wrap="square" lIns="0" tIns="0" rIns="0" bIns="0" anchor="t">
            <a:spAutoFit/>
          </a:bodyPr>
          <a:lstStyle/>
          <a:p>
            <a:pPr algn="ctr">
              <a:lnSpc>
                <a:spcPct val="135000"/>
              </a:lnSpc>
            </a:pPr>
            <a:r>
              <a:rPr lang="ko-KR" altLang="en-US" sz="1400" b="1" dirty="0">
                <a:solidFill>
                  <a:srgbClr val="00689D"/>
                </a:solidFill>
                <a:latin typeface="나눔고딕" panose="020D0604000000000000" pitchFamily="50" charset="-127"/>
                <a:ea typeface="나눔고딕" panose="020D0604000000000000" pitchFamily="50" charset="-127"/>
              </a:rPr>
              <a:t>검증 및 결</a:t>
            </a:r>
            <a:r>
              <a:rPr sz="1400" b="1" dirty="0">
                <a:solidFill>
                  <a:srgbClr val="00689D"/>
                </a:solidFill>
                <a:latin typeface="나눔고딕" panose="020D0604000000000000" pitchFamily="50" charset="-127"/>
                <a:ea typeface="나눔고딕" panose="020D0604000000000000" pitchFamily="50" charset="-127"/>
              </a:rPr>
              <a:t>정</a:t>
            </a:r>
          </a:p>
        </p:txBody>
      </p:sp>
      <p:sp>
        <p:nvSpPr>
          <p:cNvPr id="10" name="TextBox 9"/>
          <p:cNvSpPr txBox="1"/>
          <p:nvPr/>
        </p:nvSpPr>
        <p:spPr>
          <a:xfrm>
            <a:off x="1051560" y="3383280"/>
            <a:ext cx="2834640" cy="822960"/>
          </a:xfrm>
          <a:prstGeom prst="rect">
            <a:avLst/>
          </a:prstGeom>
          <a:noFill/>
        </p:spPr>
        <p:txBody>
          <a:bodyPr wrap="square" lIns="0" tIns="0" rIns="0" bIns="0" anchor="t">
            <a:spAutoFit/>
          </a:bodyPr>
          <a:lstStyle/>
          <a:p>
            <a:pPr algn="ctr">
              <a:lnSpc>
                <a:spcPct val="140000"/>
              </a:lnSpc>
            </a:pPr>
            <a:r>
              <a:rPr sz="1100" b="0">
                <a:solidFill>
                  <a:srgbClr val="6C757D"/>
                </a:solidFill>
                <a:latin typeface="NanumGothic"/>
              </a:rPr>
              <a:t>어떤 자료를 쓸지 · 무엇이 규칙인지</a:t>
            </a:r>
          </a:p>
          <a:p>
            <a:pPr algn="ctr">
              <a:lnSpc>
                <a:spcPct val="140000"/>
              </a:lnSpc>
            </a:pPr>
            <a:r>
              <a:rPr sz="1100" b="0">
                <a:solidFill>
                  <a:srgbClr val="6C757D"/>
                </a:solidFill>
                <a:latin typeface="NanumGothic"/>
              </a:rPr>
              <a:t>어긋났을 때 어느 쪽이 맞는지</a:t>
            </a:r>
          </a:p>
          <a:p>
            <a:pPr algn="ctr">
              <a:lnSpc>
                <a:spcPct val="140000"/>
              </a:lnSpc>
            </a:pPr>
            <a:r>
              <a:rPr sz="1100" b="0">
                <a:solidFill>
                  <a:srgbClr val="6C757D"/>
                </a:solidFill>
                <a:latin typeface="NanumGothic"/>
              </a:rPr>
              <a:t>어디까지 믿고 내보낼지</a:t>
            </a:r>
          </a:p>
        </p:txBody>
      </p:sp>
      <p:sp>
        <p:nvSpPr>
          <p:cNvPr id="11" name="Rounded Rectangle 10"/>
          <p:cNvSpPr/>
          <p:nvPr/>
        </p:nvSpPr>
        <p:spPr>
          <a:xfrm>
            <a:off x="4617720" y="2084831"/>
            <a:ext cx="2944368" cy="2459736"/>
          </a:xfrm>
          <a:prstGeom prst="roundRect">
            <a:avLst>
              <a:gd name="adj" fmla="val 6000"/>
            </a:avLst>
          </a:prstGeom>
          <a:solidFill>
            <a:srgbClr val="0A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17720" y="2468880"/>
            <a:ext cx="2944368" cy="457200"/>
          </a:xfrm>
          <a:prstGeom prst="rect">
            <a:avLst/>
          </a:prstGeom>
          <a:noFill/>
        </p:spPr>
        <p:txBody>
          <a:bodyPr wrap="square" lIns="0" tIns="0" rIns="0" bIns="0" anchor="t">
            <a:spAutoFit/>
          </a:bodyPr>
          <a:lstStyle/>
          <a:p>
            <a:pPr algn="ctr">
              <a:lnSpc>
                <a:spcPct val="135000"/>
              </a:lnSpc>
            </a:pPr>
            <a:r>
              <a:rPr sz="2700" b="1">
                <a:solidFill>
                  <a:srgbClr val="FFFFFF"/>
                </a:solidFill>
                <a:latin typeface="NanumGothic"/>
              </a:rPr>
              <a:t>데이터</a:t>
            </a:r>
          </a:p>
        </p:txBody>
      </p:sp>
      <p:sp>
        <p:nvSpPr>
          <p:cNvPr id="13" name="TextBox 12"/>
          <p:cNvSpPr txBox="1"/>
          <p:nvPr/>
        </p:nvSpPr>
        <p:spPr>
          <a:xfrm>
            <a:off x="4617720" y="2999232"/>
            <a:ext cx="2944368" cy="365760"/>
          </a:xfrm>
          <a:prstGeom prst="rect">
            <a:avLst/>
          </a:prstGeom>
          <a:noFill/>
        </p:spPr>
        <p:txBody>
          <a:bodyPr wrap="square" lIns="0" tIns="0" rIns="0" bIns="0" anchor="t">
            <a:spAutoFit/>
          </a:bodyPr>
          <a:lstStyle/>
          <a:p>
            <a:pPr algn="ctr">
              <a:lnSpc>
                <a:spcPct val="135000"/>
              </a:lnSpc>
            </a:pPr>
            <a:r>
              <a:rPr sz="1250" b="0">
                <a:solidFill>
                  <a:srgbClr val="9FC5DC"/>
                </a:solidFill>
                <a:latin typeface="NanumGothic"/>
              </a:rPr>
              <a:t>K-SDGs 데이터베이스</a:t>
            </a:r>
          </a:p>
        </p:txBody>
      </p:sp>
      <p:sp>
        <p:nvSpPr>
          <p:cNvPr id="14" name="TextBox 13"/>
          <p:cNvSpPr txBox="1"/>
          <p:nvPr/>
        </p:nvSpPr>
        <p:spPr>
          <a:xfrm>
            <a:off x="4754880" y="3419856"/>
            <a:ext cx="2670048" cy="822960"/>
          </a:xfrm>
          <a:prstGeom prst="rect">
            <a:avLst/>
          </a:prstGeom>
          <a:noFill/>
        </p:spPr>
        <p:txBody>
          <a:bodyPr wrap="square" lIns="0" tIns="0" rIns="0" bIns="0" anchor="t">
            <a:spAutoFit/>
          </a:bodyPr>
          <a:lstStyle/>
          <a:p>
            <a:pPr algn="ctr">
              <a:lnSpc>
                <a:spcPct val="140000"/>
              </a:lnSpc>
            </a:pPr>
            <a:r>
              <a:rPr sz="1150" b="0">
                <a:solidFill>
                  <a:srgbClr val="CFE1EC"/>
                </a:solidFill>
                <a:latin typeface="NanumGothic"/>
              </a:rPr>
              <a:t>숫자마다 출처가 있고</a:t>
            </a:r>
          </a:p>
          <a:p>
            <a:pPr algn="ctr">
              <a:lnSpc>
                <a:spcPct val="140000"/>
              </a:lnSpc>
            </a:pPr>
            <a:r>
              <a:rPr sz="1150" b="0">
                <a:solidFill>
                  <a:srgbClr val="CFE1EC"/>
                </a:solidFill>
                <a:latin typeface="NanumGothic"/>
              </a:rPr>
              <a:t>판단마다 근거가 붙은 자료</a:t>
            </a:r>
          </a:p>
        </p:txBody>
      </p:sp>
      <p:sp>
        <p:nvSpPr>
          <p:cNvPr id="15" name="Rounded Rectangle 14"/>
          <p:cNvSpPr/>
          <p:nvPr/>
        </p:nvSpPr>
        <p:spPr>
          <a:xfrm>
            <a:off x="8028431" y="2286000"/>
            <a:ext cx="3383280" cy="2057400"/>
          </a:xfrm>
          <a:prstGeom prst="roundRect">
            <a:avLst>
              <a:gd name="adj" fmla="val 6000"/>
            </a:avLst>
          </a:prstGeom>
          <a:solidFill>
            <a:srgbClr val="F3ECFB"/>
          </a:solidFill>
          <a:ln w="15875">
            <a:solidFill>
              <a:srgbClr val="933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28431" y="2505456"/>
            <a:ext cx="3383280" cy="411480"/>
          </a:xfrm>
          <a:prstGeom prst="rect">
            <a:avLst/>
          </a:prstGeom>
          <a:noFill/>
        </p:spPr>
        <p:txBody>
          <a:bodyPr wrap="square" lIns="0" tIns="0" rIns="0" bIns="0" anchor="t">
            <a:spAutoFit/>
          </a:bodyPr>
          <a:lstStyle/>
          <a:p>
            <a:pPr algn="ctr">
              <a:lnSpc>
                <a:spcPct val="135000"/>
              </a:lnSpc>
            </a:pPr>
            <a:r>
              <a:rPr sz="2500" b="1">
                <a:solidFill>
                  <a:srgbClr val="6B21A8"/>
                </a:solidFill>
                <a:latin typeface="NanumGothic"/>
              </a:rPr>
              <a:t>AI</a:t>
            </a:r>
          </a:p>
        </p:txBody>
      </p:sp>
      <p:sp>
        <p:nvSpPr>
          <p:cNvPr id="17" name="TextBox 16"/>
          <p:cNvSpPr txBox="1"/>
          <p:nvPr/>
        </p:nvSpPr>
        <p:spPr>
          <a:xfrm>
            <a:off x="8028431" y="2980944"/>
            <a:ext cx="3383280" cy="261225"/>
          </a:xfrm>
          <a:prstGeom prst="rect">
            <a:avLst/>
          </a:prstGeom>
          <a:noFill/>
        </p:spPr>
        <p:txBody>
          <a:bodyPr wrap="square" lIns="0" tIns="0" rIns="0" bIns="0" anchor="t">
            <a:spAutoFit/>
          </a:bodyPr>
          <a:lstStyle/>
          <a:p>
            <a:pPr algn="ctr">
              <a:lnSpc>
                <a:spcPct val="135000"/>
              </a:lnSpc>
            </a:pPr>
            <a:r>
              <a:rPr lang="ko-KR" altLang="en-US" sz="1400" b="1" dirty="0">
                <a:solidFill>
                  <a:srgbClr val="9333EA"/>
                </a:solidFill>
                <a:latin typeface="NanumGothic"/>
              </a:rPr>
              <a:t>실제작업</a:t>
            </a:r>
            <a:r>
              <a:rPr lang="en-US" altLang="ko-KR" sz="1400" b="1" dirty="0">
                <a:solidFill>
                  <a:srgbClr val="9333EA"/>
                </a:solidFill>
                <a:latin typeface="NanumGothic"/>
              </a:rPr>
              <a:t>(</a:t>
            </a:r>
            <a:r>
              <a:rPr lang="ko-KR" altLang="en-US" sz="1400" b="1" dirty="0">
                <a:solidFill>
                  <a:srgbClr val="9333EA"/>
                </a:solidFill>
                <a:latin typeface="NanumGothic"/>
              </a:rPr>
              <a:t>반복</a:t>
            </a:r>
            <a:r>
              <a:rPr lang="en-US" altLang="ko-KR" sz="1400" b="1" dirty="0">
                <a:solidFill>
                  <a:srgbClr val="9333EA"/>
                </a:solidFill>
                <a:latin typeface="NanumGothic"/>
              </a:rPr>
              <a:t>)</a:t>
            </a:r>
            <a:endParaRPr sz="1400" b="1" dirty="0">
              <a:solidFill>
                <a:srgbClr val="9333EA"/>
              </a:solidFill>
              <a:latin typeface="NanumGothic"/>
            </a:endParaRPr>
          </a:p>
        </p:txBody>
      </p:sp>
      <p:sp>
        <p:nvSpPr>
          <p:cNvPr id="18" name="TextBox 17"/>
          <p:cNvSpPr txBox="1"/>
          <p:nvPr/>
        </p:nvSpPr>
        <p:spPr>
          <a:xfrm>
            <a:off x="8302752" y="3383280"/>
            <a:ext cx="2834640" cy="822960"/>
          </a:xfrm>
          <a:prstGeom prst="rect">
            <a:avLst/>
          </a:prstGeom>
          <a:noFill/>
        </p:spPr>
        <p:txBody>
          <a:bodyPr wrap="square" lIns="0" tIns="0" rIns="0" bIns="0" anchor="t">
            <a:spAutoFit/>
          </a:bodyPr>
          <a:lstStyle/>
          <a:p>
            <a:pPr algn="ctr">
              <a:lnSpc>
                <a:spcPct val="140000"/>
              </a:lnSpc>
            </a:pPr>
            <a:r>
              <a:rPr sz="1100" b="0">
                <a:solidFill>
                  <a:srgbClr val="6C757D"/>
                </a:solidFill>
                <a:latin typeface="NanumGothic"/>
              </a:rPr>
              <a:t>원문에서 값을 뽑고 · 출처끼리 대조하고</a:t>
            </a:r>
          </a:p>
          <a:p>
            <a:pPr algn="ctr">
              <a:lnSpc>
                <a:spcPct val="140000"/>
              </a:lnSpc>
            </a:pPr>
            <a:r>
              <a:rPr sz="1100" b="0">
                <a:solidFill>
                  <a:srgbClr val="6C757D"/>
                </a:solidFill>
                <a:latin typeface="NanumGothic"/>
              </a:rPr>
              <a:t>어긋난 지점을 찾아내고</a:t>
            </a:r>
          </a:p>
          <a:p>
            <a:pPr algn="ctr">
              <a:lnSpc>
                <a:spcPct val="140000"/>
              </a:lnSpc>
            </a:pPr>
            <a:r>
              <a:rPr sz="1100" b="0">
                <a:solidFill>
                  <a:srgbClr val="6C757D"/>
                </a:solidFill>
                <a:latin typeface="NanumGothic"/>
              </a:rPr>
              <a:t>이어 붙여 화면으로 보여준다</a:t>
            </a:r>
          </a:p>
        </p:txBody>
      </p:sp>
      <p:sp>
        <p:nvSpPr>
          <p:cNvPr id="19" name="Right Arrow 18"/>
          <p:cNvSpPr/>
          <p:nvPr/>
        </p:nvSpPr>
        <p:spPr>
          <a:xfrm>
            <a:off x="4206240" y="3108960"/>
            <a:ext cx="365760" cy="384048"/>
          </a:xfrm>
          <a:prstGeom prst="rightArrow">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Left Arrow 19"/>
          <p:cNvSpPr/>
          <p:nvPr/>
        </p:nvSpPr>
        <p:spPr>
          <a:xfrm>
            <a:off x="7616952" y="3108960"/>
            <a:ext cx="365760" cy="384048"/>
          </a:xfrm>
          <a:prstGeom prst="leftArrow">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7240" y="4828032"/>
            <a:ext cx="10637215" cy="74980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4974336"/>
            <a:ext cx="9997135" cy="502920"/>
          </a:xfrm>
          <a:prstGeom prst="rect">
            <a:avLst/>
          </a:prstGeom>
          <a:noFill/>
        </p:spPr>
        <p:txBody>
          <a:bodyPr wrap="square" lIns="0" tIns="0" rIns="0" bIns="0" anchor="ctr">
            <a:spAutoFit/>
          </a:bodyPr>
          <a:lstStyle/>
          <a:p>
            <a:pPr algn="ctr">
              <a:lnSpc>
                <a:spcPct val="135000"/>
              </a:lnSpc>
            </a:pPr>
            <a:r>
              <a:rPr sz="1400" b="0">
                <a:solidFill>
                  <a:srgbClr val="1A1D21"/>
                </a:solidFill>
                <a:latin typeface="NanumGothic"/>
              </a:rPr>
              <a:t>AI가 값을 뽑고 어긋난 곳까지 찾아냅니다. 다만 </a:t>
            </a:r>
            <a:r>
              <a:rPr sz="1400" b="1">
                <a:solidFill>
                  <a:srgbClr val="0A3D5C"/>
                </a:solidFill>
                <a:latin typeface="NanumGothic"/>
              </a:rPr>
              <a:t>어느 쪽이 맞는지 정하는 것은 사람</a:t>
            </a:r>
            <a:r>
              <a:rPr sz="1400" b="0">
                <a:solidFill>
                  <a:srgbClr val="1A1D21"/>
                </a:solidFill>
                <a:latin typeface="NanumGothic"/>
              </a:rPr>
              <a:t>입니다.</a:t>
            </a:r>
          </a:p>
        </p:txBody>
      </p:sp>
      <p:sp>
        <p:nvSpPr>
          <p:cNvPr id="23" name="TextBox 22"/>
          <p:cNvSpPr txBox="1"/>
          <p:nvPr/>
        </p:nvSpPr>
        <p:spPr>
          <a:xfrm>
            <a:off x="777240" y="5779008"/>
            <a:ext cx="10637215" cy="777240"/>
          </a:xfrm>
          <a:prstGeom prst="rect">
            <a:avLst/>
          </a:prstGeom>
          <a:noFill/>
        </p:spPr>
        <p:txBody>
          <a:bodyPr wrap="square" lIns="0" tIns="0" rIns="0" bIns="0" anchor="t">
            <a:spAutoFit/>
          </a:bodyPr>
          <a:lstStyle/>
          <a:p>
            <a:pPr algn="ctr">
              <a:lnSpc>
                <a:spcPct val="145000"/>
              </a:lnSpc>
            </a:pPr>
            <a:r>
              <a:rPr sz="1350" b="0" dirty="0" err="1">
                <a:solidFill>
                  <a:srgbClr val="1A1D21"/>
                </a:solidFill>
                <a:latin typeface="NanumGothic"/>
              </a:rPr>
              <a:t>그래서</a:t>
            </a:r>
            <a:r>
              <a:rPr sz="1350" b="0" dirty="0">
                <a:solidFill>
                  <a:srgbClr val="1A1D21"/>
                </a:solidFill>
                <a:latin typeface="NanumGothic"/>
              </a:rPr>
              <a:t> </a:t>
            </a:r>
            <a:r>
              <a:rPr sz="1350" b="1" dirty="0" err="1">
                <a:solidFill>
                  <a:srgbClr val="0A3D5C"/>
                </a:solidFill>
                <a:latin typeface="NanumGothic"/>
              </a:rPr>
              <a:t>기준값과</a:t>
            </a:r>
            <a:r>
              <a:rPr sz="1350" b="1" dirty="0">
                <a:solidFill>
                  <a:srgbClr val="0A3D5C"/>
                </a:solidFill>
                <a:latin typeface="NanumGothic"/>
              </a:rPr>
              <a:t> </a:t>
            </a:r>
            <a:r>
              <a:rPr sz="1350" b="1" dirty="0" err="1">
                <a:solidFill>
                  <a:srgbClr val="0A3D5C"/>
                </a:solidFill>
                <a:latin typeface="NanumGothic"/>
              </a:rPr>
              <a:t>목표값은</a:t>
            </a:r>
            <a:r>
              <a:rPr sz="1350" b="1" dirty="0">
                <a:solidFill>
                  <a:srgbClr val="0A3D5C"/>
                </a:solidFill>
                <a:latin typeface="NanumGothic"/>
              </a:rPr>
              <a:t> </a:t>
            </a:r>
            <a:r>
              <a:rPr sz="1350" b="1" dirty="0" err="1">
                <a:solidFill>
                  <a:srgbClr val="0A3D5C"/>
                </a:solidFill>
                <a:latin typeface="NanumGothic"/>
              </a:rPr>
              <a:t>자동으로</a:t>
            </a:r>
            <a:r>
              <a:rPr sz="1350" b="1" dirty="0">
                <a:solidFill>
                  <a:srgbClr val="0A3D5C"/>
                </a:solidFill>
                <a:latin typeface="NanumGothic"/>
              </a:rPr>
              <a:t> </a:t>
            </a:r>
            <a:r>
              <a:rPr sz="1350" b="1" dirty="0" err="1">
                <a:solidFill>
                  <a:srgbClr val="0A3D5C"/>
                </a:solidFill>
                <a:latin typeface="NanumGothic"/>
              </a:rPr>
              <a:t>고치지</a:t>
            </a:r>
            <a:r>
              <a:rPr sz="1350" b="1" dirty="0">
                <a:solidFill>
                  <a:srgbClr val="0A3D5C"/>
                </a:solidFill>
                <a:latin typeface="NanumGothic"/>
              </a:rPr>
              <a:t> </a:t>
            </a:r>
            <a:r>
              <a:rPr sz="1350" b="1" dirty="0" err="1">
                <a:solidFill>
                  <a:srgbClr val="0A3D5C"/>
                </a:solidFill>
                <a:latin typeface="NanumGothic"/>
              </a:rPr>
              <a:t>않고</a:t>
            </a:r>
            <a:r>
              <a:rPr sz="1350" b="0" dirty="0">
                <a:solidFill>
                  <a:srgbClr val="1A1D21"/>
                </a:solidFill>
                <a:latin typeface="NanumGothic"/>
              </a:rPr>
              <a:t>, </a:t>
            </a:r>
            <a:r>
              <a:rPr sz="1350" b="0" dirty="0" err="1">
                <a:solidFill>
                  <a:srgbClr val="1A1D21"/>
                </a:solidFill>
                <a:latin typeface="NanumGothic"/>
              </a:rPr>
              <a:t>출처가</a:t>
            </a:r>
            <a:r>
              <a:rPr sz="1350" b="0" dirty="0">
                <a:solidFill>
                  <a:srgbClr val="1A1D21"/>
                </a:solidFill>
                <a:latin typeface="NanumGothic"/>
              </a:rPr>
              <a:t> </a:t>
            </a:r>
            <a:r>
              <a:rPr sz="1350" b="0" dirty="0" err="1">
                <a:solidFill>
                  <a:srgbClr val="1A1D21"/>
                </a:solidFill>
                <a:latin typeface="NanumGothic"/>
              </a:rPr>
              <a:t>어긋나면</a:t>
            </a:r>
            <a:r>
              <a:rPr sz="1350" b="0" dirty="0">
                <a:solidFill>
                  <a:srgbClr val="1A1D21"/>
                </a:solidFill>
                <a:latin typeface="NanumGothic"/>
              </a:rPr>
              <a:t> </a:t>
            </a:r>
            <a:r>
              <a:rPr sz="1350" b="1" dirty="0" err="1">
                <a:solidFill>
                  <a:srgbClr val="0A3D5C"/>
                </a:solidFill>
                <a:latin typeface="NanumGothic"/>
              </a:rPr>
              <a:t>맞추는</a:t>
            </a:r>
            <a:r>
              <a:rPr sz="1350" b="1" dirty="0">
                <a:solidFill>
                  <a:srgbClr val="0A3D5C"/>
                </a:solidFill>
                <a:latin typeface="NanumGothic"/>
              </a:rPr>
              <a:t> </a:t>
            </a:r>
            <a:r>
              <a:rPr sz="1350" b="1" dirty="0" err="1">
                <a:solidFill>
                  <a:srgbClr val="0A3D5C"/>
                </a:solidFill>
                <a:latin typeface="NanumGothic"/>
              </a:rPr>
              <a:t>대신</a:t>
            </a:r>
            <a:r>
              <a:rPr sz="1350" b="1" dirty="0">
                <a:solidFill>
                  <a:srgbClr val="0A3D5C"/>
                </a:solidFill>
                <a:latin typeface="NanumGothic"/>
              </a:rPr>
              <a:t> </a:t>
            </a:r>
            <a:r>
              <a:rPr sz="1350" b="1" dirty="0" err="1">
                <a:solidFill>
                  <a:srgbClr val="0A3D5C"/>
                </a:solidFill>
                <a:latin typeface="NanumGothic"/>
              </a:rPr>
              <a:t>싣지</a:t>
            </a:r>
            <a:r>
              <a:rPr sz="1350" b="1" dirty="0">
                <a:solidFill>
                  <a:srgbClr val="0A3D5C"/>
                </a:solidFill>
                <a:latin typeface="NanumGothic"/>
              </a:rPr>
              <a:t> </a:t>
            </a:r>
            <a:r>
              <a:rPr sz="1350" b="1" dirty="0" err="1">
                <a:solidFill>
                  <a:srgbClr val="0A3D5C"/>
                </a:solidFill>
                <a:latin typeface="NanumGothic"/>
              </a:rPr>
              <a:t>않으며</a:t>
            </a:r>
            <a:r>
              <a:rPr sz="1350" b="0" dirty="0">
                <a:solidFill>
                  <a:srgbClr val="1A1D21"/>
                </a:solidFill>
                <a:latin typeface="NanumGothic"/>
              </a:rPr>
              <a:t>,</a:t>
            </a:r>
          </a:p>
          <a:p>
            <a:pPr algn="ctr">
              <a:lnSpc>
                <a:spcPct val="145000"/>
              </a:lnSpc>
            </a:pPr>
            <a:r>
              <a:rPr sz="1350" b="0" dirty="0" err="1">
                <a:solidFill>
                  <a:srgbClr val="1A1D21"/>
                </a:solidFill>
                <a:latin typeface="NanumGothic"/>
              </a:rPr>
              <a:t>아직</a:t>
            </a:r>
            <a:r>
              <a:rPr sz="1350" b="0" dirty="0">
                <a:solidFill>
                  <a:srgbClr val="1A1D21"/>
                </a:solidFill>
                <a:latin typeface="NanumGothic"/>
              </a:rPr>
              <a:t> </a:t>
            </a:r>
            <a:r>
              <a:rPr sz="1350" b="0" dirty="0" err="1">
                <a:solidFill>
                  <a:srgbClr val="1A1D21"/>
                </a:solidFill>
                <a:latin typeface="NanumGothic"/>
              </a:rPr>
              <a:t>사람이</a:t>
            </a:r>
            <a:r>
              <a:rPr sz="1350" b="0" dirty="0">
                <a:solidFill>
                  <a:srgbClr val="1A1D21"/>
                </a:solidFill>
                <a:latin typeface="NanumGothic"/>
              </a:rPr>
              <a:t> </a:t>
            </a:r>
            <a:r>
              <a:rPr sz="1350" b="0" dirty="0" err="1">
                <a:solidFill>
                  <a:srgbClr val="1A1D21"/>
                </a:solidFill>
                <a:latin typeface="NanumGothic"/>
              </a:rPr>
              <a:t>보지</a:t>
            </a:r>
            <a:r>
              <a:rPr sz="1350" b="0" dirty="0">
                <a:solidFill>
                  <a:srgbClr val="1A1D21"/>
                </a:solidFill>
                <a:latin typeface="NanumGothic"/>
              </a:rPr>
              <a:t> </a:t>
            </a:r>
            <a:r>
              <a:rPr sz="1350" b="0" dirty="0" err="1">
                <a:solidFill>
                  <a:srgbClr val="1A1D21"/>
                </a:solidFill>
                <a:latin typeface="NanumGothic"/>
              </a:rPr>
              <a:t>않은</a:t>
            </a:r>
            <a:r>
              <a:rPr sz="1350" b="0" dirty="0">
                <a:solidFill>
                  <a:srgbClr val="1A1D21"/>
                </a:solidFill>
                <a:latin typeface="NanumGothic"/>
              </a:rPr>
              <a:t> </a:t>
            </a:r>
            <a:r>
              <a:rPr sz="1350" b="0" dirty="0" err="1">
                <a:solidFill>
                  <a:srgbClr val="1A1D21"/>
                </a:solidFill>
                <a:latin typeface="NanumGothic"/>
              </a:rPr>
              <a:t>것은</a:t>
            </a:r>
            <a:r>
              <a:rPr sz="1350" b="0" dirty="0">
                <a:solidFill>
                  <a:srgbClr val="1A1D21"/>
                </a:solidFill>
                <a:latin typeface="NanumGothic"/>
              </a:rPr>
              <a:t> </a:t>
            </a:r>
            <a:r>
              <a:rPr sz="1350" b="1" dirty="0">
                <a:solidFill>
                  <a:srgbClr val="0A3D5C"/>
                </a:solidFill>
                <a:latin typeface="NanumGothic"/>
              </a:rPr>
              <a:t>「</a:t>
            </a:r>
            <a:r>
              <a:rPr sz="1350" b="1" dirty="0" err="1">
                <a:solidFill>
                  <a:srgbClr val="0A3D5C"/>
                </a:solidFill>
                <a:latin typeface="NanumGothic"/>
              </a:rPr>
              <a:t>검수</a:t>
            </a:r>
            <a:r>
              <a:rPr sz="1350" b="1" dirty="0">
                <a:solidFill>
                  <a:srgbClr val="0A3D5C"/>
                </a:solidFill>
                <a:latin typeface="NanumGothic"/>
              </a:rPr>
              <a:t> </a:t>
            </a:r>
            <a:r>
              <a:rPr sz="1350" b="1" dirty="0" err="1">
                <a:solidFill>
                  <a:srgbClr val="0A3D5C"/>
                </a:solidFill>
                <a:latin typeface="NanumGothic"/>
              </a:rPr>
              <a:t>전」이라고</a:t>
            </a:r>
            <a:r>
              <a:rPr sz="1350" b="1" dirty="0">
                <a:solidFill>
                  <a:srgbClr val="0A3D5C"/>
                </a:solidFill>
                <a:latin typeface="NanumGothic"/>
              </a:rPr>
              <a:t> </a:t>
            </a:r>
            <a:r>
              <a:rPr sz="1350" b="1" dirty="0" err="1">
                <a:solidFill>
                  <a:srgbClr val="0A3D5C"/>
                </a:solidFill>
                <a:latin typeface="NanumGothic"/>
              </a:rPr>
              <a:t>화면에</a:t>
            </a:r>
            <a:r>
              <a:rPr sz="1350" b="1" dirty="0">
                <a:solidFill>
                  <a:srgbClr val="0A3D5C"/>
                </a:solidFill>
                <a:latin typeface="NanumGothic"/>
              </a:rPr>
              <a:t> </a:t>
            </a:r>
            <a:r>
              <a:rPr sz="1350" b="1" dirty="0" err="1">
                <a:solidFill>
                  <a:srgbClr val="0A3D5C"/>
                </a:solidFill>
                <a:latin typeface="NanumGothic"/>
              </a:rPr>
              <a:t>표시</a:t>
            </a:r>
            <a:r>
              <a:rPr sz="1350" b="0" dirty="0" err="1">
                <a:solidFill>
                  <a:srgbClr val="1A1D21"/>
                </a:solidFill>
                <a:latin typeface="NanumGothic"/>
              </a:rPr>
              <a:t>합니다</a:t>
            </a:r>
            <a:r>
              <a:rPr sz="1350" b="0" dirty="0">
                <a:solidFill>
                  <a:srgbClr val="1A1D21"/>
                </a:solidFill>
                <a:latin typeface="NanumGothic"/>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03</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a:solidFill>
                  <a:srgbClr val="0A3D5C"/>
                </a:solidFill>
                <a:latin typeface="NanumGothic"/>
              </a:rPr>
              <a:t>주요 기능 한눈에</a:t>
            </a: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목표를 훑는 데서 시작해, 지표 하나까지 파고들고, 다른 자료와 이어 봅니다.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965960"/>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1965960"/>
            <a:ext cx="2551176" cy="64008"/>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240279"/>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통합 현황</a:t>
            </a:r>
          </a:p>
        </p:txBody>
      </p:sp>
      <p:sp>
        <p:nvSpPr>
          <p:cNvPr id="10" name="TextBox 9"/>
          <p:cNvSpPr txBox="1"/>
          <p:nvPr/>
        </p:nvSpPr>
        <p:spPr>
          <a:xfrm>
            <a:off x="1005840" y="2651760"/>
            <a:ext cx="2148840" cy="548640"/>
          </a:xfrm>
          <a:prstGeom prst="rect">
            <a:avLst/>
          </a:prstGeom>
          <a:noFill/>
        </p:spPr>
        <p:txBody>
          <a:bodyPr wrap="square" lIns="0" tIns="0" rIns="0" bIns="0" anchor="t">
            <a:spAutoFit/>
          </a:bodyPr>
          <a:lstStyle/>
          <a:p>
            <a:pPr algn="l">
              <a:lnSpc>
                <a:spcPct val="130000"/>
              </a:lnSpc>
            </a:pPr>
            <a:r>
              <a:rPr sz="1200" b="1">
                <a:solidFill>
                  <a:srgbClr val="00689D"/>
                </a:solidFill>
                <a:latin typeface="NanumGothic"/>
              </a:rPr>
              <a:t>17개 목표를 한 화면에</a:t>
            </a:r>
          </a:p>
        </p:txBody>
      </p:sp>
      <p:sp>
        <p:nvSpPr>
          <p:cNvPr id="11" name="TextBox 10"/>
          <p:cNvSpPr txBox="1"/>
          <p:nvPr/>
        </p:nvSpPr>
        <p:spPr>
          <a:xfrm>
            <a:off x="1005840" y="3172968"/>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어느 목표가 앞서고 뒤처지는지</a:t>
            </a:r>
          </a:p>
        </p:txBody>
      </p:sp>
      <p:sp>
        <p:nvSpPr>
          <p:cNvPr id="12" name="Rounded Rectangle 11"/>
          <p:cNvSpPr/>
          <p:nvPr/>
        </p:nvSpPr>
        <p:spPr>
          <a:xfrm>
            <a:off x="3474720" y="1965960"/>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4720" y="1965960"/>
            <a:ext cx="2551176" cy="64008"/>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03320" y="2240279"/>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목표 · 지표 탐색</a:t>
            </a:r>
          </a:p>
        </p:txBody>
      </p:sp>
      <p:sp>
        <p:nvSpPr>
          <p:cNvPr id="15" name="TextBox 14"/>
          <p:cNvSpPr txBox="1"/>
          <p:nvPr/>
        </p:nvSpPr>
        <p:spPr>
          <a:xfrm>
            <a:off x="3703320" y="2651760"/>
            <a:ext cx="2148840" cy="548640"/>
          </a:xfrm>
          <a:prstGeom prst="rect">
            <a:avLst/>
          </a:prstGeom>
          <a:noFill/>
        </p:spPr>
        <p:txBody>
          <a:bodyPr wrap="square" lIns="0" tIns="0" rIns="0" bIns="0" anchor="t">
            <a:spAutoFit/>
          </a:bodyPr>
          <a:lstStyle/>
          <a:p>
            <a:pPr algn="l">
              <a:lnSpc>
                <a:spcPct val="130000"/>
              </a:lnSpc>
            </a:pPr>
            <a:r>
              <a:rPr sz="1200" b="1">
                <a:solidFill>
                  <a:srgbClr val="00689D"/>
                </a:solidFill>
                <a:latin typeface="NanumGothic"/>
              </a:rPr>
              <a:t>세부목표에서 지표까지</a:t>
            </a:r>
          </a:p>
        </p:txBody>
      </p:sp>
      <p:sp>
        <p:nvSpPr>
          <p:cNvPr id="16" name="TextBox 15"/>
          <p:cNvSpPr txBox="1"/>
          <p:nvPr/>
        </p:nvSpPr>
        <p:spPr>
          <a:xfrm>
            <a:off x="3703320" y="3172968"/>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검색과 필터로 바로 찾기</a:t>
            </a:r>
          </a:p>
        </p:txBody>
      </p:sp>
      <p:sp>
        <p:nvSpPr>
          <p:cNvPr id="17" name="Rounded Rectangle 16"/>
          <p:cNvSpPr/>
          <p:nvPr/>
        </p:nvSpPr>
        <p:spPr>
          <a:xfrm>
            <a:off x="6172200" y="1965960"/>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72200" y="1965960"/>
            <a:ext cx="2551176" cy="64008"/>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0" y="2240279"/>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지표 상세</a:t>
            </a:r>
          </a:p>
        </p:txBody>
      </p:sp>
      <p:sp>
        <p:nvSpPr>
          <p:cNvPr id="20" name="TextBox 19"/>
          <p:cNvSpPr txBox="1"/>
          <p:nvPr/>
        </p:nvSpPr>
        <p:spPr>
          <a:xfrm>
            <a:off x="6400800" y="2651760"/>
            <a:ext cx="2148840" cy="548640"/>
          </a:xfrm>
          <a:prstGeom prst="rect">
            <a:avLst/>
          </a:prstGeom>
          <a:noFill/>
        </p:spPr>
        <p:txBody>
          <a:bodyPr wrap="square" lIns="0" tIns="0" rIns="0" bIns="0" anchor="t">
            <a:spAutoFit/>
          </a:bodyPr>
          <a:lstStyle/>
          <a:p>
            <a:pPr algn="l">
              <a:lnSpc>
                <a:spcPct val="130000"/>
              </a:lnSpc>
            </a:pPr>
            <a:r>
              <a:rPr sz="1200" b="1">
                <a:solidFill>
                  <a:srgbClr val="00689D"/>
                </a:solidFill>
                <a:latin typeface="NanumGothic"/>
              </a:rPr>
              <a:t>추이와 목표를 한 그림에</a:t>
            </a:r>
          </a:p>
        </p:txBody>
      </p:sp>
      <p:sp>
        <p:nvSpPr>
          <p:cNvPr id="21" name="TextBox 20"/>
          <p:cNvSpPr txBox="1"/>
          <p:nvPr/>
        </p:nvSpPr>
        <p:spPr>
          <a:xfrm>
            <a:off x="6400800" y="3172968"/>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공식 화면에 실린 값도 함께</a:t>
            </a:r>
          </a:p>
        </p:txBody>
      </p:sp>
      <p:sp>
        <p:nvSpPr>
          <p:cNvPr id="22" name="Rounded Rectangle 21"/>
          <p:cNvSpPr/>
          <p:nvPr/>
        </p:nvSpPr>
        <p:spPr>
          <a:xfrm>
            <a:off x="8869680" y="1965960"/>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869680" y="1965960"/>
            <a:ext cx="2551176" cy="64008"/>
          </a:xfrm>
          <a:prstGeom prst="rect">
            <a:avLst/>
          </a:prstGeom>
          <a:solidFill>
            <a:srgbClr val="0A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98280" y="2240279"/>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자료 내려받기</a:t>
            </a:r>
          </a:p>
        </p:txBody>
      </p:sp>
      <p:sp>
        <p:nvSpPr>
          <p:cNvPr id="25" name="TextBox 24"/>
          <p:cNvSpPr txBox="1"/>
          <p:nvPr/>
        </p:nvSpPr>
        <p:spPr>
          <a:xfrm>
            <a:off x="9098280" y="2651760"/>
            <a:ext cx="2148840" cy="548640"/>
          </a:xfrm>
          <a:prstGeom prst="rect">
            <a:avLst/>
          </a:prstGeom>
          <a:noFill/>
        </p:spPr>
        <p:txBody>
          <a:bodyPr wrap="square" lIns="0" tIns="0" rIns="0" bIns="0" anchor="t">
            <a:spAutoFit/>
          </a:bodyPr>
          <a:lstStyle/>
          <a:p>
            <a:pPr algn="l">
              <a:lnSpc>
                <a:spcPct val="130000"/>
              </a:lnSpc>
            </a:pPr>
            <a:r>
              <a:rPr sz="1200" b="1">
                <a:solidFill>
                  <a:srgbClr val="0A3D5C"/>
                </a:solidFill>
                <a:latin typeface="NanumGothic"/>
              </a:rPr>
              <a:t>본 것을 그대로 받아가기</a:t>
            </a:r>
          </a:p>
        </p:txBody>
      </p:sp>
      <p:sp>
        <p:nvSpPr>
          <p:cNvPr id="26" name="TextBox 25"/>
          <p:cNvSpPr txBox="1"/>
          <p:nvPr/>
        </p:nvSpPr>
        <p:spPr>
          <a:xfrm>
            <a:off x="9098280" y="3172968"/>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표는 CSV, 원문은 묶음으로</a:t>
            </a:r>
          </a:p>
        </p:txBody>
      </p:sp>
      <p:sp>
        <p:nvSpPr>
          <p:cNvPr id="27" name="Rounded Rectangle 26"/>
          <p:cNvSpPr/>
          <p:nvPr/>
        </p:nvSpPr>
        <p:spPr>
          <a:xfrm>
            <a:off x="777240" y="3904487"/>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7240" y="3904487"/>
            <a:ext cx="2551176" cy="6400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05840" y="4178807"/>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데이터맵</a:t>
            </a:r>
          </a:p>
        </p:txBody>
      </p:sp>
      <p:sp>
        <p:nvSpPr>
          <p:cNvPr id="30" name="TextBox 29"/>
          <p:cNvSpPr txBox="1"/>
          <p:nvPr/>
        </p:nvSpPr>
        <p:spPr>
          <a:xfrm>
            <a:off x="1005840" y="4590288"/>
            <a:ext cx="2148840" cy="548640"/>
          </a:xfrm>
          <a:prstGeom prst="rect">
            <a:avLst/>
          </a:prstGeom>
          <a:noFill/>
        </p:spPr>
        <p:txBody>
          <a:bodyPr wrap="square" lIns="0" tIns="0" rIns="0" bIns="0" anchor="t">
            <a:spAutoFit/>
          </a:bodyPr>
          <a:lstStyle/>
          <a:p>
            <a:pPr algn="l">
              <a:lnSpc>
                <a:spcPct val="130000"/>
              </a:lnSpc>
            </a:pPr>
            <a:r>
              <a:rPr sz="1200" b="1">
                <a:solidFill>
                  <a:srgbClr val="2B8A3E"/>
                </a:solidFill>
                <a:latin typeface="NanumGothic"/>
              </a:rPr>
              <a:t>무엇으로 잴 수 있나</a:t>
            </a:r>
          </a:p>
        </p:txBody>
      </p:sp>
      <p:sp>
        <p:nvSpPr>
          <p:cNvPr id="31" name="TextBox 30"/>
          <p:cNvSpPr txBox="1"/>
          <p:nvPr/>
        </p:nvSpPr>
        <p:spPr>
          <a:xfrm>
            <a:off x="1005840" y="5111496"/>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지표에서 통계까지 뻗는 가지</a:t>
            </a:r>
          </a:p>
        </p:txBody>
      </p:sp>
      <p:sp>
        <p:nvSpPr>
          <p:cNvPr id="32" name="Rounded Rectangle 31"/>
          <p:cNvSpPr/>
          <p:nvPr/>
        </p:nvSpPr>
        <p:spPr>
          <a:xfrm>
            <a:off x="3474720" y="3904487"/>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74720" y="3904487"/>
            <a:ext cx="2551176" cy="6400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703320" y="4178807"/>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국제 비교</a:t>
            </a:r>
          </a:p>
        </p:txBody>
      </p:sp>
      <p:sp>
        <p:nvSpPr>
          <p:cNvPr id="35" name="TextBox 34"/>
          <p:cNvSpPr txBox="1"/>
          <p:nvPr/>
        </p:nvSpPr>
        <p:spPr>
          <a:xfrm>
            <a:off x="3703320" y="4590288"/>
            <a:ext cx="2148840" cy="548640"/>
          </a:xfrm>
          <a:prstGeom prst="rect">
            <a:avLst/>
          </a:prstGeom>
          <a:noFill/>
        </p:spPr>
        <p:txBody>
          <a:bodyPr wrap="square" lIns="0" tIns="0" rIns="0" bIns="0" anchor="t">
            <a:spAutoFit/>
          </a:bodyPr>
          <a:lstStyle/>
          <a:p>
            <a:pPr algn="l">
              <a:lnSpc>
                <a:spcPct val="130000"/>
              </a:lnSpc>
            </a:pPr>
            <a:r>
              <a:rPr sz="1200" b="1">
                <a:solidFill>
                  <a:srgbClr val="2B8A3E"/>
                </a:solidFill>
                <a:latin typeface="NanumGothic"/>
              </a:rPr>
              <a:t>UN-SDGs와 어디서 어긋나나</a:t>
            </a:r>
          </a:p>
        </p:txBody>
      </p:sp>
      <p:sp>
        <p:nvSpPr>
          <p:cNvPr id="36" name="TextBox 35"/>
          <p:cNvSpPr txBox="1"/>
          <p:nvPr/>
        </p:nvSpPr>
        <p:spPr>
          <a:xfrm>
            <a:off x="3703320" y="5111496"/>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체계 · 대응 · 빈 곳을 나란히</a:t>
            </a:r>
          </a:p>
        </p:txBody>
      </p:sp>
      <p:sp>
        <p:nvSpPr>
          <p:cNvPr id="37" name="Rounded Rectangle 36"/>
          <p:cNvSpPr/>
          <p:nvPr/>
        </p:nvSpPr>
        <p:spPr>
          <a:xfrm>
            <a:off x="6172200" y="3904487"/>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172200" y="3904487"/>
            <a:ext cx="2551176" cy="64008"/>
          </a:xfrm>
          <a:prstGeom prst="rect">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400800" y="4178807"/>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미래변화분석</a:t>
            </a:r>
          </a:p>
        </p:txBody>
      </p:sp>
      <p:sp>
        <p:nvSpPr>
          <p:cNvPr id="40" name="TextBox 39"/>
          <p:cNvSpPr txBox="1"/>
          <p:nvPr/>
        </p:nvSpPr>
        <p:spPr>
          <a:xfrm>
            <a:off x="6400800" y="4590288"/>
            <a:ext cx="2148840" cy="548640"/>
          </a:xfrm>
          <a:prstGeom prst="rect">
            <a:avLst/>
          </a:prstGeom>
          <a:noFill/>
        </p:spPr>
        <p:txBody>
          <a:bodyPr wrap="square" lIns="0" tIns="0" rIns="0" bIns="0" anchor="t">
            <a:spAutoFit/>
          </a:bodyPr>
          <a:lstStyle/>
          <a:p>
            <a:pPr algn="l">
              <a:lnSpc>
                <a:spcPct val="130000"/>
              </a:lnSpc>
            </a:pPr>
            <a:r>
              <a:rPr sz="1200" b="1">
                <a:solidFill>
                  <a:srgbClr val="9333EA"/>
                </a:solidFill>
                <a:latin typeface="NanumGothic"/>
              </a:rPr>
              <a:t>무엇이 이 목표를 흔드나</a:t>
            </a:r>
          </a:p>
        </p:txBody>
      </p:sp>
      <p:sp>
        <p:nvSpPr>
          <p:cNvPr id="41" name="TextBox 40"/>
          <p:cNvSpPr txBox="1"/>
          <p:nvPr/>
        </p:nvSpPr>
        <p:spPr>
          <a:xfrm>
            <a:off x="6400800" y="5111496"/>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시나리오와 목표를 잇는 매트릭스</a:t>
            </a:r>
          </a:p>
        </p:txBody>
      </p:sp>
      <p:sp>
        <p:nvSpPr>
          <p:cNvPr id="42" name="Rounded Rectangle 41"/>
          <p:cNvSpPr/>
          <p:nvPr/>
        </p:nvSpPr>
        <p:spPr>
          <a:xfrm>
            <a:off x="8869680" y="3904487"/>
            <a:ext cx="2551176" cy="173736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869680" y="3904487"/>
            <a:ext cx="2551176" cy="64008"/>
          </a:xfrm>
          <a:prstGeom prst="rect">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098280" y="4178807"/>
            <a:ext cx="2103120" cy="32004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행정계획</a:t>
            </a:r>
          </a:p>
        </p:txBody>
      </p:sp>
      <p:sp>
        <p:nvSpPr>
          <p:cNvPr id="45" name="TextBox 44"/>
          <p:cNvSpPr txBox="1"/>
          <p:nvPr/>
        </p:nvSpPr>
        <p:spPr>
          <a:xfrm>
            <a:off x="9098280" y="4590288"/>
            <a:ext cx="2148840" cy="548640"/>
          </a:xfrm>
          <a:prstGeom prst="rect">
            <a:avLst/>
          </a:prstGeom>
          <a:noFill/>
        </p:spPr>
        <p:txBody>
          <a:bodyPr wrap="square" lIns="0" tIns="0" rIns="0" bIns="0" anchor="t">
            <a:spAutoFit/>
          </a:bodyPr>
          <a:lstStyle/>
          <a:p>
            <a:pPr algn="l">
              <a:lnSpc>
                <a:spcPct val="130000"/>
              </a:lnSpc>
            </a:pPr>
            <a:r>
              <a:rPr sz="1200" b="1">
                <a:solidFill>
                  <a:srgbClr val="9333EA"/>
                </a:solidFill>
                <a:latin typeface="NanumGothic"/>
              </a:rPr>
              <a:t>어떤 계획이 이 목표를 다루나</a:t>
            </a:r>
          </a:p>
        </p:txBody>
      </p:sp>
      <p:sp>
        <p:nvSpPr>
          <p:cNvPr id="46" name="TextBox 45"/>
          <p:cNvSpPr txBox="1"/>
          <p:nvPr/>
        </p:nvSpPr>
        <p:spPr>
          <a:xfrm>
            <a:off x="9098280" y="5111496"/>
            <a:ext cx="2148840" cy="411480"/>
          </a:xfrm>
          <a:prstGeom prst="rect">
            <a:avLst/>
          </a:prstGeom>
          <a:noFill/>
        </p:spPr>
        <p:txBody>
          <a:bodyPr wrap="square" lIns="0" tIns="0" rIns="0" bIns="0" anchor="t">
            <a:spAutoFit/>
          </a:bodyPr>
          <a:lstStyle/>
          <a:p>
            <a:pPr algn="l">
              <a:lnSpc>
                <a:spcPct val="130000"/>
              </a:lnSpc>
            </a:pPr>
            <a:r>
              <a:rPr sz="1000" b="0">
                <a:solidFill>
                  <a:srgbClr val="6C757D"/>
                </a:solidFill>
                <a:latin typeface="NanumGothic"/>
              </a:rPr>
              <a:t>원문 PDF까지 함께</a:t>
            </a:r>
          </a:p>
        </p:txBody>
      </p:sp>
      <p:sp>
        <p:nvSpPr>
          <p:cNvPr id="47" name="Rounded Rectangle 46"/>
          <p:cNvSpPr/>
          <p:nvPr/>
        </p:nvSpPr>
        <p:spPr>
          <a:xfrm>
            <a:off x="777240" y="5989320"/>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777240" y="5989320"/>
            <a:ext cx="50292" cy="56692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24128" y="6117336"/>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화면에 보이는 내용은 모두 관리자 화면에서 고칠 수 있습니다. 각 기능은 뒤에서 하나씩 설명합니다.</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04</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a:solidFill>
                  <a:srgbClr val="0A3D5C"/>
                </a:solidFill>
                <a:latin typeface="NanumGothic"/>
              </a:rPr>
              <a:t>무엇을 담았나</a:t>
            </a: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제4차 지속가능발전 기본계획의 목표 체계를 그대로 옮겼습니다. 2040년까지 이 틀은 바뀌지 않습니다.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057400"/>
            <a:ext cx="2514600" cy="16002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395728"/>
            <a:ext cx="2514600" cy="457200"/>
          </a:xfrm>
          <a:prstGeom prst="rect">
            <a:avLst/>
          </a:prstGeom>
          <a:noFill/>
        </p:spPr>
        <p:txBody>
          <a:bodyPr wrap="square" lIns="0" tIns="0" rIns="0" bIns="0" anchor="t">
            <a:spAutoFit/>
          </a:bodyPr>
          <a:lstStyle/>
          <a:p>
            <a:pPr algn="ctr">
              <a:lnSpc>
                <a:spcPct val="135000"/>
              </a:lnSpc>
            </a:pPr>
            <a:r>
              <a:rPr sz="2400" b="1">
                <a:solidFill>
                  <a:srgbClr val="00689D"/>
                </a:solidFill>
                <a:latin typeface="NanumGothic"/>
              </a:rPr>
              <a:t>부문</a:t>
            </a:r>
          </a:p>
        </p:txBody>
      </p:sp>
      <p:sp>
        <p:nvSpPr>
          <p:cNvPr id="9" name="TextBox 8"/>
          <p:cNvSpPr txBox="1"/>
          <p:nvPr/>
        </p:nvSpPr>
        <p:spPr>
          <a:xfrm>
            <a:off x="777240" y="2889504"/>
            <a:ext cx="2514600" cy="274320"/>
          </a:xfrm>
          <a:prstGeom prst="rect">
            <a:avLst/>
          </a:prstGeom>
          <a:noFill/>
        </p:spPr>
        <p:txBody>
          <a:bodyPr wrap="square" lIns="0" tIns="0" rIns="0" bIns="0" anchor="t">
            <a:spAutoFit/>
          </a:bodyPr>
          <a:lstStyle/>
          <a:p>
            <a:pPr algn="ctr">
              <a:lnSpc>
                <a:spcPct val="135000"/>
              </a:lnSpc>
            </a:pPr>
            <a:r>
              <a:rPr sz="1200" b="0">
                <a:solidFill>
                  <a:srgbClr val="6C757D"/>
                </a:solidFill>
                <a:latin typeface="NanumGothic"/>
              </a:rPr>
              <a:t>4개</a:t>
            </a:r>
          </a:p>
        </p:txBody>
      </p:sp>
      <p:sp>
        <p:nvSpPr>
          <p:cNvPr id="10" name="TextBox 9"/>
          <p:cNvSpPr txBox="1"/>
          <p:nvPr/>
        </p:nvSpPr>
        <p:spPr>
          <a:xfrm>
            <a:off x="914400" y="3218688"/>
            <a:ext cx="2240280" cy="365760"/>
          </a:xfrm>
          <a:prstGeom prst="rect">
            <a:avLst/>
          </a:prstGeom>
          <a:noFill/>
        </p:spPr>
        <p:txBody>
          <a:bodyPr wrap="square" lIns="0" tIns="0" rIns="0" bIns="0" anchor="t">
            <a:spAutoFit/>
          </a:bodyPr>
          <a:lstStyle/>
          <a:p>
            <a:pPr algn="ctr">
              <a:lnSpc>
                <a:spcPct val="135000"/>
              </a:lnSpc>
            </a:pPr>
            <a:r>
              <a:rPr sz="1050" b="0">
                <a:solidFill>
                  <a:srgbClr val="6C757D"/>
                </a:solidFill>
                <a:latin typeface="NanumGothic"/>
              </a:rPr>
              <a:t>계획 2부의 Ⅰ~Ⅳ</a:t>
            </a:r>
          </a:p>
        </p:txBody>
      </p:sp>
      <p:sp>
        <p:nvSpPr>
          <p:cNvPr id="11" name="Right Arrow 10"/>
          <p:cNvSpPr/>
          <p:nvPr/>
        </p:nvSpPr>
        <p:spPr>
          <a:xfrm>
            <a:off x="3355848" y="2724912"/>
            <a:ext cx="256032" cy="274320"/>
          </a:xfrm>
          <a:prstGeom prst="rightArrow">
            <a:avLst/>
          </a:prstGeom>
          <a:solidFill>
            <a:srgbClr val="C5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11880" y="2057400"/>
            <a:ext cx="2514600" cy="16002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80" y="2395728"/>
            <a:ext cx="2514600" cy="457200"/>
          </a:xfrm>
          <a:prstGeom prst="rect">
            <a:avLst/>
          </a:prstGeom>
          <a:noFill/>
        </p:spPr>
        <p:txBody>
          <a:bodyPr wrap="square" lIns="0" tIns="0" rIns="0" bIns="0" anchor="t">
            <a:spAutoFit/>
          </a:bodyPr>
          <a:lstStyle/>
          <a:p>
            <a:pPr algn="ctr">
              <a:lnSpc>
                <a:spcPct val="135000"/>
              </a:lnSpc>
            </a:pPr>
            <a:r>
              <a:rPr sz="2400" b="1">
                <a:solidFill>
                  <a:srgbClr val="00689D"/>
                </a:solidFill>
                <a:latin typeface="NanumGothic"/>
              </a:rPr>
              <a:t>목표</a:t>
            </a:r>
          </a:p>
        </p:txBody>
      </p:sp>
      <p:sp>
        <p:nvSpPr>
          <p:cNvPr id="14" name="TextBox 13"/>
          <p:cNvSpPr txBox="1"/>
          <p:nvPr/>
        </p:nvSpPr>
        <p:spPr>
          <a:xfrm>
            <a:off x="3611880" y="2889504"/>
            <a:ext cx="2514600" cy="274320"/>
          </a:xfrm>
          <a:prstGeom prst="rect">
            <a:avLst/>
          </a:prstGeom>
          <a:noFill/>
        </p:spPr>
        <p:txBody>
          <a:bodyPr wrap="square" lIns="0" tIns="0" rIns="0" bIns="0" anchor="t">
            <a:spAutoFit/>
          </a:bodyPr>
          <a:lstStyle/>
          <a:p>
            <a:pPr algn="ctr">
              <a:lnSpc>
                <a:spcPct val="135000"/>
              </a:lnSpc>
            </a:pPr>
            <a:r>
              <a:rPr sz="1200" b="0">
                <a:solidFill>
                  <a:srgbClr val="6C757D"/>
                </a:solidFill>
                <a:latin typeface="NanumGothic"/>
              </a:rPr>
              <a:t>17개</a:t>
            </a:r>
          </a:p>
        </p:txBody>
      </p:sp>
      <p:sp>
        <p:nvSpPr>
          <p:cNvPr id="15" name="TextBox 14"/>
          <p:cNvSpPr txBox="1"/>
          <p:nvPr/>
        </p:nvSpPr>
        <p:spPr>
          <a:xfrm>
            <a:off x="3749040" y="3218688"/>
            <a:ext cx="2240280" cy="365760"/>
          </a:xfrm>
          <a:prstGeom prst="rect">
            <a:avLst/>
          </a:prstGeom>
          <a:noFill/>
        </p:spPr>
        <p:txBody>
          <a:bodyPr wrap="square" lIns="0" tIns="0" rIns="0" bIns="0" anchor="t">
            <a:spAutoFit/>
          </a:bodyPr>
          <a:lstStyle/>
          <a:p>
            <a:pPr algn="ctr">
              <a:lnSpc>
                <a:spcPct val="135000"/>
              </a:lnSpc>
            </a:pPr>
            <a:r>
              <a:rPr sz="1050" b="0">
                <a:solidFill>
                  <a:srgbClr val="6C757D"/>
                </a:solidFill>
                <a:latin typeface="NanumGothic"/>
              </a:rPr>
              <a:t>UN 17개 목표와 같은 번호</a:t>
            </a:r>
          </a:p>
        </p:txBody>
      </p:sp>
      <p:sp>
        <p:nvSpPr>
          <p:cNvPr id="16" name="Right Arrow 15"/>
          <p:cNvSpPr/>
          <p:nvPr/>
        </p:nvSpPr>
        <p:spPr>
          <a:xfrm>
            <a:off x="6190488" y="2724912"/>
            <a:ext cx="256032" cy="274320"/>
          </a:xfrm>
          <a:prstGeom prst="rightArrow">
            <a:avLst/>
          </a:prstGeom>
          <a:solidFill>
            <a:srgbClr val="C5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46520" y="2057400"/>
            <a:ext cx="2514600" cy="16002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2395728"/>
            <a:ext cx="2514600" cy="457200"/>
          </a:xfrm>
          <a:prstGeom prst="rect">
            <a:avLst/>
          </a:prstGeom>
          <a:noFill/>
        </p:spPr>
        <p:txBody>
          <a:bodyPr wrap="square" lIns="0" tIns="0" rIns="0" bIns="0" anchor="t">
            <a:spAutoFit/>
          </a:bodyPr>
          <a:lstStyle/>
          <a:p>
            <a:pPr algn="ctr">
              <a:lnSpc>
                <a:spcPct val="135000"/>
              </a:lnSpc>
            </a:pPr>
            <a:r>
              <a:rPr sz="2400" b="1">
                <a:solidFill>
                  <a:srgbClr val="2B8A3E"/>
                </a:solidFill>
                <a:latin typeface="NanumGothic"/>
              </a:rPr>
              <a:t>세부목표</a:t>
            </a:r>
          </a:p>
        </p:txBody>
      </p:sp>
      <p:sp>
        <p:nvSpPr>
          <p:cNvPr id="19" name="TextBox 18"/>
          <p:cNvSpPr txBox="1"/>
          <p:nvPr/>
        </p:nvSpPr>
        <p:spPr>
          <a:xfrm>
            <a:off x="6446520" y="2889504"/>
            <a:ext cx="2514600" cy="274320"/>
          </a:xfrm>
          <a:prstGeom prst="rect">
            <a:avLst/>
          </a:prstGeom>
          <a:noFill/>
        </p:spPr>
        <p:txBody>
          <a:bodyPr wrap="square" lIns="0" tIns="0" rIns="0" bIns="0" anchor="t">
            <a:spAutoFit/>
          </a:bodyPr>
          <a:lstStyle/>
          <a:p>
            <a:pPr algn="ctr">
              <a:lnSpc>
                <a:spcPct val="135000"/>
              </a:lnSpc>
            </a:pPr>
            <a:r>
              <a:rPr sz="1200" b="0">
                <a:solidFill>
                  <a:srgbClr val="6C757D"/>
                </a:solidFill>
                <a:latin typeface="NanumGothic"/>
              </a:rPr>
              <a:t>119개</a:t>
            </a:r>
          </a:p>
        </p:txBody>
      </p:sp>
      <p:sp>
        <p:nvSpPr>
          <p:cNvPr id="20" name="TextBox 19"/>
          <p:cNvSpPr txBox="1"/>
          <p:nvPr/>
        </p:nvSpPr>
        <p:spPr>
          <a:xfrm>
            <a:off x="6583680" y="3218688"/>
            <a:ext cx="2240280" cy="365760"/>
          </a:xfrm>
          <a:prstGeom prst="rect">
            <a:avLst/>
          </a:prstGeom>
          <a:noFill/>
        </p:spPr>
        <p:txBody>
          <a:bodyPr wrap="square" lIns="0" tIns="0" rIns="0" bIns="0" anchor="t">
            <a:spAutoFit/>
          </a:bodyPr>
          <a:lstStyle/>
          <a:p>
            <a:pPr algn="ctr">
              <a:lnSpc>
                <a:spcPct val="135000"/>
              </a:lnSpc>
            </a:pPr>
            <a:r>
              <a:rPr sz="1050" b="0">
                <a:solidFill>
                  <a:srgbClr val="6C757D"/>
                </a:solidFill>
                <a:latin typeface="NanumGothic"/>
              </a:rPr>
              <a:t>국내 제도에 맞춰 다시 씀</a:t>
            </a:r>
          </a:p>
        </p:txBody>
      </p:sp>
      <p:sp>
        <p:nvSpPr>
          <p:cNvPr id="21" name="Right Arrow 20"/>
          <p:cNvSpPr/>
          <p:nvPr/>
        </p:nvSpPr>
        <p:spPr>
          <a:xfrm>
            <a:off x="9025128" y="2724912"/>
            <a:ext cx="256032" cy="274320"/>
          </a:xfrm>
          <a:prstGeom prst="rightArrow">
            <a:avLst/>
          </a:prstGeom>
          <a:solidFill>
            <a:srgbClr val="C5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281160" y="2057400"/>
            <a:ext cx="2514600" cy="16002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81160" y="2395728"/>
            <a:ext cx="2514600" cy="457200"/>
          </a:xfrm>
          <a:prstGeom prst="rect">
            <a:avLst/>
          </a:prstGeom>
          <a:noFill/>
        </p:spPr>
        <p:txBody>
          <a:bodyPr wrap="square" lIns="0" tIns="0" rIns="0" bIns="0" anchor="t">
            <a:spAutoFit/>
          </a:bodyPr>
          <a:lstStyle/>
          <a:p>
            <a:pPr algn="ctr">
              <a:lnSpc>
                <a:spcPct val="135000"/>
              </a:lnSpc>
            </a:pPr>
            <a:r>
              <a:rPr sz="2400" b="1">
                <a:solidFill>
                  <a:srgbClr val="2B8A3E"/>
                </a:solidFill>
                <a:latin typeface="NanumGothic"/>
              </a:rPr>
              <a:t>지표</a:t>
            </a:r>
          </a:p>
        </p:txBody>
      </p:sp>
      <p:sp>
        <p:nvSpPr>
          <p:cNvPr id="24" name="TextBox 23"/>
          <p:cNvSpPr txBox="1"/>
          <p:nvPr/>
        </p:nvSpPr>
        <p:spPr>
          <a:xfrm>
            <a:off x="9281160" y="2889504"/>
            <a:ext cx="2514600" cy="274320"/>
          </a:xfrm>
          <a:prstGeom prst="rect">
            <a:avLst/>
          </a:prstGeom>
          <a:noFill/>
        </p:spPr>
        <p:txBody>
          <a:bodyPr wrap="square" lIns="0" tIns="0" rIns="0" bIns="0" anchor="t">
            <a:spAutoFit/>
          </a:bodyPr>
          <a:lstStyle/>
          <a:p>
            <a:pPr algn="ctr">
              <a:lnSpc>
                <a:spcPct val="135000"/>
              </a:lnSpc>
            </a:pPr>
            <a:r>
              <a:rPr sz="1200" b="0">
                <a:solidFill>
                  <a:srgbClr val="6C757D"/>
                </a:solidFill>
                <a:latin typeface="NanumGothic"/>
              </a:rPr>
              <a:t>236개</a:t>
            </a:r>
          </a:p>
        </p:txBody>
      </p:sp>
      <p:sp>
        <p:nvSpPr>
          <p:cNvPr id="25" name="TextBox 24"/>
          <p:cNvSpPr txBox="1"/>
          <p:nvPr/>
        </p:nvSpPr>
        <p:spPr>
          <a:xfrm>
            <a:off x="9418320" y="3218688"/>
            <a:ext cx="2240280" cy="365760"/>
          </a:xfrm>
          <a:prstGeom prst="rect">
            <a:avLst/>
          </a:prstGeom>
          <a:noFill/>
        </p:spPr>
        <p:txBody>
          <a:bodyPr wrap="square" lIns="0" tIns="0" rIns="0" bIns="0" anchor="t">
            <a:spAutoFit/>
          </a:bodyPr>
          <a:lstStyle/>
          <a:p>
            <a:pPr algn="ctr">
              <a:lnSpc>
                <a:spcPct val="135000"/>
              </a:lnSpc>
            </a:pPr>
            <a:r>
              <a:rPr sz="1050" b="0">
                <a:solidFill>
                  <a:srgbClr val="6C757D"/>
                </a:solidFill>
                <a:latin typeface="NanumGothic"/>
              </a:rPr>
              <a:t>실제로 재는 단위</a:t>
            </a:r>
          </a:p>
        </p:txBody>
      </p:sp>
      <p:sp>
        <p:nvSpPr>
          <p:cNvPr id="26" name="TextBox 25"/>
          <p:cNvSpPr txBox="1"/>
          <p:nvPr/>
        </p:nvSpPr>
        <p:spPr>
          <a:xfrm>
            <a:off x="777240" y="3977639"/>
            <a:ext cx="10607040" cy="36576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다만 지표라고 다 같지 않습니다 — 절반 가까이는 숫자로 잴 수 없습니다</a:t>
            </a:r>
          </a:p>
        </p:txBody>
      </p:sp>
      <p:sp>
        <p:nvSpPr>
          <p:cNvPr id="27" name="Rounded Rectangle 26"/>
          <p:cNvSpPr/>
          <p:nvPr/>
        </p:nvSpPr>
        <p:spPr>
          <a:xfrm>
            <a:off x="777240" y="4434840"/>
            <a:ext cx="2606040" cy="96012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777240" y="4434840"/>
            <a:ext cx="54864" cy="96012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33271" y="4617720"/>
            <a:ext cx="2194560" cy="274320"/>
          </a:xfrm>
          <a:prstGeom prst="rect">
            <a:avLst/>
          </a:prstGeom>
          <a:noFill/>
        </p:spPr>
        <p:txBody>
          <a:bodyPr wrap="square" lIns="0" tIns="0" rIns="0" bIns="0" anchor="t">
            <a:spAutoFit/>
          </a:bodyPr>
          <a:lstStyle/>
          <a:p>
            <a:pPr algn="l">
              <a:lnSpc>
                <a:spcPct val="135000"/>
              </a:lnSpc>
            </a:pPr>
            <a:r>
              <a:rPr sz="1400" b="1">
                <a:solidFill>
                  <a:srgbClr val="1A1D21"/>
                </a:solidFill>
                <a:latin typeface="NanumGothic"/>
              </a:rPr>
              <a:t>정량</a:t>
            </a:r>
          </a:p>
        </p:txBody>
      </p:sp>
      <p:sp>
        <p:nvSpPr>
          <p:cNvPr id="30" name="TextBox 29"/>
          <p:cNvSpPr txBox="1"/>
          <p:nvPr/>
        </p:nvSpPr>
        <p:spPr>
          <a:xfrm>
            <a:off x="1033271" y="4956048"/>
            <a:ext cx="2240280" cy="320040"/>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숫자로 진행률을 낸다</a:t>
            </a:r>
          </a:p>
        </p:txBody>
      </p:sp>
      <p:sp>
        <p:nvSpPr>
          <p:cNvPr id="31" name="Rounded Rectangle 30"/>
          <p:cNvSpPr/>
          <p:nvPr/>
        </p:nvSpPr>
        <p:spPr>
          <a:xfrm>
            <a:off x="3456432" y="4434840"/>
            <a:ext cx="2606040" cy="96012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456432" y="4434840"/>
            <a:ext cx="54864" cy="960120"/>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712464" y="4617720"/>
            <a:ext cx="2194560" cy="274320"/>
          </a:xfrm>
          <a:prstGeom prst="rect">
            <a:avLst/>
          </a:prstGeom>
          <a:noFill/>
        </p:spPr>
        <p:txBody>
          <a:bodyPr wrap="square" lIns="0" tIns="0" rIns="0" bIns="0" anchor="t">
            <a:spAutoFit/>
          </a:bodyPr>
          <a:lstStyle/>
          <a:p>
            <a:pPr algn="l">
              <a:lnSpc>
                <a:spcPct val="135000"/>
              </a:lnSpc>
            </a:pPr>
            <a:r>
              <a:rPr sz="1400" b="1">
                <a:solidFill>
                  <a:srgbClr val="1A1D21"/>
                </a:solidFill>
                <a:latin typeface="NanumGothic"/>
              </a:rPr>
              <a:t>정성</a:t>
            </a:r>
          </a:p>
        </p:txBody>
      </p:sp>
      <p:sp>
        <p:nvSpPr>
          <p:cNvPr id="34" name="TextBox 33"/>
          <p:cNvSpPr txBox="1"/>
          <p:nvPr/>
        </p:nvSpPr>
        <p:spPr>
          <a:xfrm>
            <a:off x="3712464" y="4956048"/>
            <a:ext cx="2240280" cy="320040"/>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「지속 감소」 같은 서술형 목표</a:t>
            </a:r>
          </a:p>
        </p:txBody>
      </p:sp>
      <p:sp>
        <p:nvSpPr>
          <p:cNvPr id="35" name="Rounded Rectangle 34"/>
          <p:cNvSpPr/>
          <p:nvPr/>
        </p:nvSpPr>
        <p:spPr>
          <a:xfrm>
            <a:off x="6135624" y="4434840"/>
            <a:ext cx="2606040" cy="96012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135624" y="4434840"/>
            <a:ext cx="54864" cy="96012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91656" y="4617720"/>
            <a:ext cx="2194560" cy="274320"/>
          </a:xfrm>
          <a:prstGeom prst="rect">
            <a:avLst/>
          </a:prstGeom>
          <a:noFill/>
        </p:spPr>
        <p:txBody>
          <a:bodyPr wrap="square" lIns="0" tIns="0" rIns="0" bIns="0" anchor="t">
            <a:spAutoFit/>
          </a:bodyPr>
          <a:lstStyle/>
          <a:p>
            <a:pPr algn="l">
              <a:lnSpc>
                <a:spcPct val="135000"/>
              </a:lnSpc>
            </a:pPr>
            <a:r>
              <a:rPr sz="1400" b="1">
                <a:solidFill>
                  <a:srgbClr val="1A1D21"/>
                </a:solidFill>
                <a:latin typeface="NanumGothic"/>
              </a:rPr>
              <a:t>모니터링</a:t>
            </a:r>
          </a:p>
        </p:txBody>
      </p:sp>
      <p:sp>
        <p:nvSpPr>
          <p:cNvPr id="38" name="TextBox 37"/>
          <p:cNvSpPr txBox="1"/>
          <p:nvPr/>
        </p:nvSpPr>
        <p:spPr>
          <a:xfrm>
            <a:off x="6391656" y="4956048"/>
            <a:ext cx="2240280" cy="320040"/>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목표 없이 관찰만 한다</a:t>
            </a:r>
          </a:p>
        </p:txBody>
      </p:sp>
      <p:sp>
        <p:nvSpPr>
          <p:cNvPr id="39" name="Rounded Rectangle 38"/>
          <p:cNvSpPr/>
          <p:nvPr/>
        </p:nvSpPr>
        <p:spPr>
          <a:xfrm>
            <a:off x="8814816" y="4434840"/>
            <a:ext cx="2606040" cy="96012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8814816" y="4434840"/>
            <a:ext cx="54864" cy="960120"/>
          </a:xfrm>
          <a:prstGeom prst="rect">
            <a:avLst/>
          </a:prstGeom>
          <a:solidFill>
            <a:srgbClr val="C93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070848" y="4617720"/>
            <a:ext cx="2194560" cy="274320"/>
          </a:xfrm>
          <a:prstGeom prst="rect">
            <a:avLst/>
          </a:prstGeom>
          <a:noFill/>
        </p:spPr>
        <p:txBody>
          <a:bodyPr wrap="square" lIns="0" tIns="0" rIns="0" bIns="0" anchor="t">
            <a:spAutoFit/>
          </a:bodyPr>
          <a:lstStyle/>
          <a:p>
            <a:pPr algn="l">
              <a:lnSpc>
                <a:spcPct val="135000"/>
              </a:lnSpc>
            </a:pPr>
            <a:r>
              <a:rPr sz="1400" b="1">
                <a:solidFill>
                  <a:srgbClr val="1A1D21"/>
                </a:solidFill>
                <a:latin typeface="NanumGothic"/>
              </a:rPr>
              <a:t>통계미구축</a:t>
            </a:r>
          </a:p>
        </p:txBody>
      </p:sp>
      <p:sp>
        <p:nvSpPr>
          <p:cNvPr id="42" name="TextBox 41"/>
          <p:cNvSpPr txBox="1"/>
          <p:nvPr/>
        </p:nvSpPr>
        <p:spPr>
          <a:xfrm>
            <a:off x="9070848" y="4956048"/>
            <a:ext cx="2240280" cy="320040"/>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잴 방법이 아직 없다</a:t>
            </a:r>
          </a:p>
        </p:txBody>
      </p:sp>
      <p:sp>
        <p:nvSpPr>
          <p:cNvPr id="43" name="Rounded Rectangle 42"/>
          <p:cNvSpPr/>
          <p:nvPr/>
        </p:nvSpPr>
        <p:spPr>
          <a:xfrm>
            <a:off x="777240" y="5715000"/>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777240" y="5715000"/>
            <a:ext cx="50292" cy="56692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24128" y="5843016"/>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그래서 기본 화면이 꺾은선 그래프가 아닙니다. 서술형 목표는 진행률 자리를 비우지 않고 원문 그대로 보여줍니다.</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05</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dirty="0" err="1">
                <a:solidFill>
                  <a:srgbClr val="0A3D5C"/>
                </a:solidFill>
                <a:latin typeface="NanumGothic"/>
              </a:rPr>
              <a:t>데이터는</a:t>
            </a:r>
            <a:r>
              <a:rPr sz="3000" b="1" dirty="0">
                <a:solidFill>
                  <a:srgbClr val="0A3D5C"/>
                </a:solidFill>
                <a:latin typeface="NanumGothic"/>
              </a:rPr>
              <a:t> </a:t>
            </a:r>
            <a:r>
              <a:rPr sz="3000" b="1" dirty="0" err="1">
                <a:solidFill>
                  <a:srgbClr val="0A3D5C"/>
                </a:solidFill>
                <a:latin typeface="NanumGothic"/>
              </a:rPr>
              <a:t>어디서</a:t>
            </a:r>
            <a:r>
              <a:rPr sz="3000" b="1" dirty="0">
                <a:solidFill>
                  <a:srgbClr val="0A3D5C"/>
                </a:solidFill>
                <a:latin typeface="NanumGothic"/>
              </a:rPr>
              <a:t> </a:t>
            </a:r>
            <a:r>
              <a:rPr sz="3000" b="1" dirty="0" err="1">
                <a:solidFill>
                  <a:srgbClr val="0A3D5C"/>
                </a:solidFill>
                <a:latin typeface="NanumGothic"/>
              </a:rPr>
              <a:t>왔나</a:t>
            </a:r>
            <a:endParaRPr sz="3000" b="1" dirty="0">
              <a:solidFill>
                <a:srgbClr val="0A3D5C"/>
              </a:solidFill>
              <a:latin typeface="NanumGothic"/>
            </a:endParaRP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출처가 하나가 아닙니다. 네 곳에서 모아 서로 대조했습니다.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1965960"/>
            <a:ext cx="10637215" cy="93268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05840" y="2221991"/>
            <a:ext cx="420624" cy="420624"/>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295144"/>
            <a:ext cx="420624" cy="274320"/>
          </a:xfrm>
          <a:prstGeom prst="rect">
            <a:avLst/>
          </a:prstGeom>
          <a:noFill/>
        </p:spPr>
        <p:txBody>
          <a:bodyPr wrap="square" lIns="0" tIns="0" rIns="0" bIns="0" anchor="t">
            <a:spAutoFit/>
          </a:bodyPr>
          <a:lstStyle/>
          <a:p>
            <a:pPr algn="ctr">
              <a:lnSpc>
                <a:spcPct val="135000"/>
              </a:lnSpc>
            </a:pPr>
            <a:r>
              <a:rPr sz="1400" b="1">
                <a:solidFill>
                  <a:srgbClr val="FFFFFF"/>
                </a:solidFill>
                <a:latin typeface="NanumGothic"/>
              </a:rPr>
              <a:t>1</a:t>
            </a:r>
          </a:p>
        </p:txBody>
      </p:sp>
      <p:sp>
        <p:nvSpPr>
          <p:cNvPr id="10" name="TextBox 9"/>
          <p:cNvSpPr txBox="1"/>
          <p:nvPr/>
        </p:nvSpPr>
        <p:spPr>
          <a:xfrm>
            <a:off x="1600200" y="2112264"/>
            <a:ext cx="3657600" cy="320040"/>
          </a:xfrm>
          <a:prstGeom prst="rect">
            <a:avLst/>
          </a:prstGeom>
          <a:noFill/>
        </p:spPr>
        <p:txBody>
          <a:bodyPr wrap="square" lIns="0" tIns="0" rIns="0" bIns="0" anchor="t">
            <a:spAutoFit/>
          </a:bodyPr>
          <a:lstStyle/>
          <a:p>
            <a:pPr algn="l">
              <a:lnSpc>
                <a:spcPct val="135000"/>
              </a:lnSpc>
            </a:pPr>
            <a:r>
              <a:rPr sz="1450" b="1">
                <a:solidFill>
                  <a:srgbClr val="1A1D21"/>
                </a:solidFill>
                <a:latin typeface="NanumGothic"/>
              </a:rPr>
              <a:t>제4차 기본계획 원문</a:t>
            </a:r>
          </a:p>
        </p:txBody>
      </p:sp>
      <p:sp>
        <p:nvSpPr>
          <p:cNvPr id="11" name="TextBox 10"/>
          <p:cNvSpPr txBox="1"/>
          <p:nvPr/>
        </p:nvSpPr>
        <p:spPr>
          <a:xfrm>
            <a:off x="1600200" y="2496312"/>
            <a:ext cx="4023360" cy="27432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지표 체계 · 기준값 · 2030/2040 목표</a:t>
            </a:r>
          </a:p>
        </p:txBody>
      </p:sp>
      <p:sp>
        <p:nvSpPr>
          <p:cNvPr id="12" name="TextBox 11"/>
          <p:cNvSpPr txBox="1"/>
          <p:nvPr/>
        </p:nvSpPr>
        <p:spPr>
          <a:xfrm>
            <a:off x="5852160" y="2276856"/>
            <a:ext cx="5486400" cy="457200"/>
          </a:xfrm>
          <a:prstGeom prst="rect">
            <a:avLst/>
          </a:prstGeom>
          <a:noFill/>
        </p:spPr>
        <p:txBody>
          <a:bodyPr wrap="square" lIns="0" tIns="0" rIns="0" bIns="0" anchor="ctr">
            <a:spAutoFit/>
          </a:bodyPr>
          <a:lstStyle/>
          <a:p>
            <a:pPr algn="l">
              <a:lnSpc>
                <a:spcPct val="135000"/>
              </a:lnSpc>
            </a:pPr>
            <a:r>
              <a:rPr sz="1200" b="0">
                <a:solidFill>
                  <a:srgbClr val="1A1D21"/>
                </a:solidFill>
                <a:latin typeface="NanumGothic"/>
              </a:rPr>
              <a:t>가장 뿌리가 되는 자료. 지표마다 값이 한 점뿐이었습니다.</a:t>
            </a:r>
          </a:p>
        </p:txBody>
      </p:sp>
      <p:sp>
        <p:nvSpPr>
          <p:cNvPr id="13" name="Rounded Rectangle 12"/>
          <p:cNvSpPr/>
          <p:nvPr/>
        </p:nvSpPr>
        <p:spPr>
          <a:xfrm>
            <a:off x="777240" y="3017520"/>
            <a:ext cx="10637215" cy="93268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005840" y="3273552"/>
            <a:ext cx="420624" cy="420624"/>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05840" y="3346703"/>
            <a:ext cx="420624" cy="274320"/>
          </a:xfrm>
          <a:prstGeom prst="rect">
            <a:avLst/>
          </a:prstGeom>
          <a:noFill/>
        </p:spPr>
        <p:txBody>
          <a:bodyPr wrap="square" lIns="0" tIns="0" rIns="0" bIns="0" anchor="t">
            <a:spAutoFit/>
          </a:bodyPr>
          <a:lstStyle/>
          <a:p>
            <a:pPr algn="ctr">
              <a:lnSpc>
                <a:spcPct val="135000"/>
              </a:lnSpc>
            </a:pPr>
            <a:r>
              <a:rPr sz="1400" b="1">
                <a:solidFill>
                  <a:srgbClr val="FFFFFF"/>
                </a:solidFill>
                <a:latin typeface="NanumGothic"/>
              </a:rPr>
              <a:t>2</a:t>
            </a:r>
          </a:p>
        </p:txBody>
      </p:sp>
      <p:sp>
        <p:nvSpPr>
          <p:cNvPr id="16" name="TextBox 15"/>
          <p:cNvSpPr txBox="1"/>
          <p:nvPr/>
        </p:nvSpPr>
        <p:spPr>
          <a:xfrm>
            <a:off x="1600200" y="3163824"/>
            <a:ext cx="3657600" cy="320040"/>
          </a:xfrm>
          <a:prstGeom prst="rect">
            <a:avLst/>
          </a:prstGeom>
          <a:noFill/>
        </p:spPr>
        <p:txBody>
          <a:bodyPr wrap="square" lIns="0" tIns="0" rIns="0" bIns="0" anchor="t">
            <a:spAutoFit/>
          </a:bodyPr>
          <a:lstStyle/>
          <a:p>
            <a:pPr algn="l">
              <a:lnSpc>
                <a:spcPct val="135000"/>
              </a:lnSpc>
            </a:pPr>
            <a:r>
              <a:rPr sz="1450" b="1">
                <a:solidFill>
                  <a:srgbClr val="1A1D21"/>
                </a:solidFill>
                <a:latin typeface="NanumGothic"/>
              </a:rPr>
              <a:t>지속가능발전포털 공식 화면</a:t>
            </a:r>
          </a:p>
        </p:txBody>
      </p:sp>
      <p:sp>
        <p:nvSpPr>
          <p:cNvPr id="17" name="TextBox 16"/>
          <p:cNvSpPr txBox="1"/>
          <p:nvPr/>
        </p:nvSpPr>
        <p:spPr>
          <a:xfrm>
            <a:off x="1600200" y="3547872"/>
            <a:ext cx="4023360" cy="27432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공식 지표명 표기 · 현수치 / 목표</a:t>
            </a:r>
          </a:p>
        </p:txBody>
      </p:sp>
      <p:sp>
        <p:nvSpPr>
          <p:cNvPr id="18" name="TextBox 17"/>
          <p:cNvSpPr txBox="1"/>
          <p:nvPr/>
        </p:nvSpPr>
        <p:spPr>
          <a:xfrm>
            <a:off x="5852160" y="3328415"/>
            <a:ext cx="5486400" cy="457200"/>
          </a:xfrm>
          <a:prstGeom prst="rect">
            <a:avLst/>
          </a:prstGeom>
          <a:noFill/>
        </p:spPr>
        <p:txBody>
          <a:bodyPr wrap="square" lIns="0" tIns="0" rIns="0" bIns="0" anchor="ctr">
            <a:spAutoFit/>
          </a:bodyPr>
          <a:lstStyle/>
          <a:p>
            <a:pPr algn="l">
              <a:lnSpc>
                <a:spcPct val="135000"/>
              </a:lnSpc>
            </a:pPr>
            <a:r>
              <a:rPr sz="1200" b="0">
                <a:solidFill>
                  <a:srgbClr val="1A1D21"/>
                </a:solidFill>
                <a:latin typeface="NanumGothic"/>
              </a:rPr>
              <a:t>PDF에서 잘린 지표명을 바로잡고, 원문에 없던 값을 메웠습니다.</a:t>
            </a:r>
          </a:p>
        </p:txBody>
      </p:sp>
      <p:sp>
        <p:nvSpPr>
          <p:cNvPr id="19" name="Rounded Rectangle 18"/>
          <p:cNvSpPr/>
          <p:nvPr/>
        </p:nvSpPr>
        <p:spPr>
          <a:xfrm>
            <a:off x="777240" y="4069079"/>
            <a:ext cx="10637215" cy="93268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05840" y="4325112"/>
            <a:ext cx="420624" cy="420624"/>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4398264"/>
            <a:ext cx="420624" cy="274320"/>
          </a:xfrm>
          <a:prstGeom prst="rect">
            <a:avLst/>
          </a:prstGeom>
          <a:noFill/>
        </p:spPr>
        <p:txBody>
          <a:bodyPr wrap="square" lIns="0" tIns="0" rIns="0" bIns="0" anchor="t">
            <a:spAutoFit/>
          </a:bodyPr>
          <a:lstStyle/>
          <a:p>
            <a:pPr algn="ctr">
              <a:lnSpc>
                <a:spcPct val="135000"/>
              </a:lnSpc>
            </a:pPr>
            <a:r>
              <a:rPr sz="1400" b="1">
                <a:solidFill>
                  <a:srgbClr val="FFFFFF"/>
                </a:solidFill>
                <a:latin typeface="NanumGothic"/>
              </a:rPr>
              <a:t>3</a:t>
            </a:r>
          </a:p>
        </p:txBody>
      </p:sp>
      <p:sp>
        <p:nvSpPr>
          <p:cNvPr id="22" name="TextBox 21"/>
          <p:cNvSpPr txBox="1"/>
          <p:nvPr/>
        </p:nvSpPr>
        <p:spPr>
          <a:xfrm>
            <a:off x="1600200" y="4215383"/>
            <a:ext cx="3657600" cy="320040"/>
          </a:xfrm>
          <a:prstGeom prst="rect">
            <a:avLst/>
          </a:prstGeom>
          <a:noFill/>
        </p:spPr>
        <p:txBody>
          <a:bodyPr wrap="square" lIns="0" tIns="0" rIns="0" bIns="0" anchor="t">
            <a:spAutoFit/>
          </a:bodyPr>
          <a:lstStyle/>
          <a:p>
            <a:pPr algn="l">
              <a:lnSpc>
                <a:spcPct val="135000"/>
              </a:lnSpc>
            </a:pPr>
            <a:r>
              <a:rPr sz="1450" b="1">
                <a:solidFill>
                  <a:srgbClr val="1A1D21"/>
                </a:solidFill>
                <a:latin typeface="NanumGothic"/>
              </a:rPr>
              <a:t>2024 국가지속가능성 평가</a:t>
            </a:r>
          </a:p>
        </p:txBody>
      </p:sp>
      <p:sp>
        <p:nvSpPr>
          <p:cNvPr id="23" name="TextBox 22"/>
          <p:cNvSpPr txBox="1"/>
          <p:nvPr/>
        </p:nvSpPr>
        <p:spPr>
          <a:xfrm>
            <a:off x="1600200" y="4599431"/>
            <a:ext cx="4023360" cy="27432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최신 실적 시계열 · 목표순항도</a:t>
            </a:r>
          </a:p>
        </p:txBody>
      </p:sp>
      <p:sp>
        <p:nvSpPr>
          <p:cNvPr id="24" name="TextBox 23"/>
          <p:cNvSpPr txBox="1"/>
          <p:nvPr/>
        </p:nvSpPr>
        <p:spPr>
          <a:xfrm>
            <a:off x="5852160" y="4379975"/>
            <a:ext cx="5486400" cy="457200"/>
          </a:xfrm>
          <a:prstGeom prst="rect">
            <a:avLst/>
          </a:prstGeom>
          <a:noFill/>
        </p:spPr>
        <p:txBody>
          <a:bodyPr wrap="square" lIns="0" tIns="0" rIns="0" bIns="0" anchor="ctr">
            <a:spAutoFit/>
          </a:bodyPr>
          <a:lstStyle/>
          <a:p>
            <a:pPr algn="l">
              <a:lnSpc>
                <a:spcPct val="135000"/>
              </a:lnSpc>
            </a:pPr>
            <a:r>
              <a:rPr sz="1200" b="0">
                <a:solidFill>
                  <a:srgbClr val="1A1D21"/>
                </a:solidFill>
                <a:latin typeface="NanumGothic"/>
              </a:rPr>
              <a:t>지금 이 사이트의 유일한 시계열입니다. 2년마다 갱신됩니다.</a:t>
            </a:r>
          </a:p>
        </p:txBody>
      </p:sp>
      <p:sp>
        <p:nvSpPr>
          <p:cNvPr id="25" name="Rounded Rectangle 24"/>
          <p:cNvSpPr/>
          <p:nvPr/>
        </p:nvSpPr>
        <p:spPr>
          <a:xfrm>
            <a:off x="777240" y="5120640"/>
            <a:ext cx="10637215" cy="93268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05840" y="5376672"/>
            <a:ext cx="420624" cy="420624"/>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05840" y="5449824"/>
            <a:ext cx="420624" cy="274320"/>
          </a:xfrm>
          <a:prstGeom prst="rect">
            <a:avLst/>
          </a:prstGeom>
          <a:noFill/>
        </p:spPr>
        <p:txBody>
          <a:bodyPr wrap="square" lIns="0" tIns="0" rIns="0" bIns="0" anchor="t">
            <a:spAutoFit/>
          </a:bodyPr>
          <a:lstStyle/>
          <a:p>
            <a:pPr algn="ctr">
              <a:lnSpc>
                <a:spcPct val="135000"/>
              </a:lnSpc>
            </a:pPr>
            <a:r>
              <a:rPr sz="1400" b="1">
                <a:solidFill>
                  <a:srgbClr val="FFFFFF"/>
                </a:solidFill>
                <a:latin typeface="NanumGothic"/>
              </a:rPr>
              <a:t>4</a:t>
            </a:r>
          </a:p>
        </p:txBody>
      </p:sp>
      <p:sp>
        <p:nvSpPr>
          <p:cNvPr id="28" name="TextBox 27"/>
          <p:cNvSpPr txBox="1"/>
          <p:nvPr/>
        </p:nvSpPr>
        <p:spPr>
          <a:xfrm>
            <a:off x="1600200" y="5266944"/>
            <a:ext cx="3657600" cy="320040"/>
          </a:xfrm>
          <a:prstGeom prst="rect">
            <a:avLst/>
          </a:prstGeom>
          <a:noFill/>
        </p:spPr>
        <p:txBody>
          <a:bodyPr wrap="square" lIns="0" tIns="0" rIns="0" bIns="0" anchor="t">
            <a:spAutoFit/>
          </a:bodyPr>
          <a:lstStyle/>
          <a:p>
            <a:pPr algn="l">
              <a:lnSpc>
                <a:spcPct val="135000"/>
              </a:lnSpc>
            </a:pPr>
            <a:r>
              <a:rPr sz="1450" b="1">
                <a:solidFill>
                  <a:srgbClr val="1A1D21"/>
                </a:solidFill>
                <a:latin typeface="NanumGothic"/>
              </a:rPr>
              <a:t>UN 글로벌 지표체계</a:t>
            </a:r>
          </a:p>
        </p:txBody>
      </p:sp>
      <p:sp>
        <p:nvSpPr>
          <p:cNvPr id="29" name="TextBox 28"/>
          <p:cNvSpPr txBox="1"/>
          <p:nvPr/>
        </p:nvSpPr>
        <p:spPr>
          <a:xfrm>
            <a:off x="1600200" y="5650992"/>
            <a:ext cx="4023360" cy="27432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국제 기준 번호 · 성숙도 · 국내 제공현황</a:t>
            </a:r>
          </a:p>
        </p:txBody>
      </p:sp>
      <p:sp>
        <p:nvSpPr>
          <p:cNvPr id="30" name="TextBox 29"/>
          <p:cNvSpPr txBox="1"/>
          <p:nvPr/>
        </p:nvSpPr>
        <p:spPr>
          <a:xfrm>
            <a:off x="5852160" y="5431536"/>
            <a:ext cx="5486400" cy="457200"/>
          </a:xfrm>
          <a:prstGeom prst="rect">
            <a:avLst/>
          </a:prstGeom>
          <a:noFill/>
        </p:spPr>
        <p:txBody>
          <a:bodyPr wrap="square" lIns="0" tIns="0" rIns="0" bIns="0" anchor="ctr">
            <a:spAutoFit/>
          </a:bodyPr>
          <a:lstStyle/>
          <a:p>
            <a:pPr algn="l">
              <a:lnSpc>
                <a:spcPct val="135000"/>
              </a:lnSpc>
            </a:pPr>
            <a:r>
              <a:rPr sz="1200" b="0">
                <a:solidFill>
                  <a:srgbClr val="1A1D21"/>
                </a:solidFill>
                <a:latin typeface="NanumGothic"/>
              </a:rPr>
              <a:t>unstats 와 지표누리 두 곳에서 받아 서로 맞춰 봤습니다.</a:t>
            </a:r>
          </a:p>
        </p:txBody>
      </p:sp>
      <p:sp>
        <p:nvSpPr>
          <p:cNvPr id="31" name="Rounded Rectangle 30"/>
          <p:cNvSpPr/>
          <p:nvPr/>
        </p:nvSpPr>
        <p:spPr>
          <a:xfrm>
            <a:off x="777240" y="6144768"/>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777240" y="6144768"/>
            <a:ext cx="50292" cy="56692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24128" y="6272783"/>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sheets/*.csv 와 시드 DB의 수치는 대외 공개 전 소관 부서 검수가 필요합니다.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06</a:t>
            </a:r>
          </a:p>
        </p:txBody>
      </p:sp>
      <p:sp>
        <p:nvSpPr>
          <p:cNvPr id="4" name="TextBox 3"/>
          <p:cNvSpPr txBox="1"/>
          <p:nvPr/>
        </p:nvSpPr>
        <p:spPr>
          <a:xfrm>
            <a:off x="1371600" y="502920"/>
            <a:ext cx="9966960" cy="559769"/>
          </a:xfrm>
          <a:prstGeom prst="rect">
            <a:avLst/>
          </a:prstGeom>
          <a:noFill/>
        </p:spPr>
        <p:txBody>
          <a:bodyPr wrap="square" lIns="0" tIns="0" rIns="0" bIns="0" anchor="t">
            <a:spAutoFit/>
          </a:bodyPr>
          <a:lstStyle/>
          <a:p>
            <a:pPr algn="l">
              <a:lnSpc>
                <a:spcPct val="135000"/>
              </a:lnSpc>
            </a:pPr>
            <a:r>
              <a:rPr lang="ko-KR" altLang="en-US" sz="3000" b="1" dirty="0">
                <a:solidFill>
                  <a:srgbClr val="0A3D5C"/>
                </a:solidFill>
                <a:latin typeface="나눔고딕" panose="020D0604000000000000" pitchFamily="50" charset="-127"/>
                <a:ea typeface="나눔고딕" panose="020D0604000000000000" pitchFamily="50" charset="-127"/>
              </a:rPr>
              <a:t>사람은 자료를 옮기는 것이 아니라 검증하는 것</a:t>
            </a:r>
            <a:endParaRPr sz="3000" b="1" dirty="0">
              <a:solidFill>
                <a:srgbClr val="0A3D5C"/>
              </a:solidFill>
              <a:latin typeface="나눔고딕" panose="020D0604000000000000" pitchFamily="50" charset="-127"/>
              <a:ea typeface="나눔고딕" panose="020D0604000000000000" pitchFamily="50" charset="-127"/>
            </a:endParaRP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출처가 여럿이면 서로 어긋납니다. 어긋난 곳을 찾아내고, 어느 쪽이 맞는지 정하고, 사유를 남겼습니다.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011680"/>
            <a:ext cx="2606040" cy="1572768"/>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2011680"/>
            <a:ext cx="2606040" cy="64008"/>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267712"/>
            <a:ext cx="260604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잘린 지표명</a:t>
            </a:r>
          </a:p>
        </p:txBody>
      </p:sp>
      <p:sp>
        <p:nvSpPr>
          <p:cNvPr id="10" name="TextBox 9"/>
          <p:cNvSpPr txBox="1"/>
          <p:nvPr/>
        </p:nvSpPr>
        <p:spPr>
          <a:xfrm>
            <a:off x="960120" y="2688336"/>
            <a:ext cx="2240280" cy="548640"/>
          </a:xfrm>
          <a:prstGeom prst="rect">
            <a:avLst/>
          </a:prstGeom>
          <a:noFill/>
        </p:spPr>
        <p:txBody>
          <a:bodyPr wrap="square" lIns="0" tIns="0" rIns="0" bIns="0" anchor="t">
            <a:spAutoFit/>
          </a:bodyPr>
          <a:lstStyle/>
          <a:p>
            <a:pPr algn="ctr">
              <a:lnSpc>
                <a:spcPct val="130000"/>
              </a:lnSpc>
            </a:pPr>
            <a:r>
              <a:rPr sz="1050" b="0">
                <a:solidFill>
                  <a:srgbClr val="6C757D"/>
                </a:solidFill>
                <a:latin typeface="NanumGothic"/>
              </a:rPr>
              <a:t>PDF 줄바꿈에서 이름이 끊겨 있었습니다</a:t>
            </a:r>
          </a:p>
        </p:txBody>
      </p:sp>
      <p:sp>
        <p:nvSpPr>
          <p:cNvPr id="11" name="TextBox 10"/>
          <p:cNvSpPr txBox="1"/>
          <p:nvPr/>
        </p:nvSpPr>
        <p:spPr>
          <a:xfrm>
            <a:off x="960120" y="3227832"/>
            <a:ext cx="2240280" cy="274320"/>
          </a:xfrm>
          <a:prstGeom prst="rect">
            <a:avLst/>
          </a:prstGeom>
          <a:noFill/>
        </p:spPr>
        <p:txBody>
          <a:bodyPr wrap="square" lIns="0" tIns="0" rIns="0" bIns="0" anchor="t">
            <a:spAutoFit/>
          </a:bodyPr>
          <a:lstStyle/>
          <a:p>
            <a:pPr algn="ctr">
              <a:lnSpc>
                <a:spcPct val="135000"/>
              </a:lnSpc>
            </a:pPr>
            <a:r>
              <a:rPr sz="1050" b="1">
                <a:solidFill>
                  <a:srgbClr val="00689D"/>
                </a:solidFill>
                <a:latin typeface="NanumGothic"/>
              </a:rPr>
              <a:t>원문과 대조해 복구</a:t>
            </a:r>
          </a:p>
        </p:txBody>
      </p:sp>
      <p:sp>
        <p:nvSpPr>
          <p:cNvPr id="12" name="Rounded Rectangle 11"/>
          <p:cNvSpPr/>
          <p:nvPr/>
        </p:nvSpPr>
        <p:spPr>
          <a:xfrm>
            <a:off x="3456432" y="2011680"/>
            <a:ext cx="2606040" cy="1572768"/>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56432" y="2011680"/>
            <a:ext cx="2606040" cy="64008"/>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56432" y="2267712"/>
            <a:ext cx="260604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빠진 값</a:t>
            </a:r>
          </a:p>
        </p:txBody>
      </p:sp>
      <p:sp>
        <p:nvSpPr>
          <p:cNvPr id="15" name="TextBox 14"/>
          <p:cNvSpPr txBox="1"/>
          <p:nvPr/>
        </p:nvSpPr>
        <p:spPr>
          <a:xfrm>
            <a:off x="3639312" y="2688336"/>
            <a:ext cx="2240280" cy="548640"/>
          </a:xfrm>
          <a:prstGeom prst="rect">
            <a:avLst/>
          </a:prstGeom>
          <a:noFill/>
        </p:spPr>
        <p:txBody>
          <a:bodyPr wrap="square" lIns="0" tIns="0" rIns="0" bIns="0" anchor="t">
            <a:spAutoFit/>
          </a:bodyPr>
          <a:lstStyle/>
          <a:p>
            <a:pPr algn="ctr">
              <a:lnSpc>
                <a:spcPct val="130000"/>
              </a:lnSpc>
            </a:pPr>
            <a:r>
              <a:rPr sz="1050" b="0" dirty="0" err="1">
                <a:solidFill>
                  <a:srgbClr val="6C757D"/>
                </a:solidFill>
                <a:latin typeface="NanumGothic"/>
              </a:rPr>
              <a:t>계획</a:t>
            </a:r>
            <a:r>
              <a:rPr sz="1050" b="0" dirty="0">
                <a:solidFill>
                  <a:srgbClr val="6C757D"/>
                </a:solidFill>
                <a:latin typeface="NanumGothic"/>
              </a:rPr>
              <a:t> </a:t>
            </a:r>
            <a:r>
              <a:rPr sz="1050" b="0" dirty="0" err="1">
                <a:solidFill>
                  <a:srgbClr val="6C757D"/>
                </a:solidFill>
                <a:latin typeface="NanumGothic"/>
              </a:rPr>
              <a:t>원문에</a:t>
            </a:r>
            <a:r>
              <a:rPr sz="1050" b="0" dirty="0">
                <a:solidFill>
                  <a:srgbClr val="6C757D"/>
                </a:solidFill>
                <a:latin typeface="NanumGothic"/>
              </a:rPr>
              <a:t> </a:t>
            </a:r>
            <a:r>
              <a:rPr sz="1050" b="0" dirty="0" err="1">
                <a:solidFill>
                  <a:srgbClr val="6C757D"/>
                </a:solidFill>
                <a:latin typeface="NanumGothic"/>
              </a:rPr>
              <a:t>수치가</a:t>
            </a:r>
            <a:r>
              <a:rPr sz="1050" b="0" dirty="0">
                <a:solidFill>
                  <a:srgbClr val="6C757D"/>
                </a:solidFill>
                <a:latin typeface="NanumGothic"/>
              </a:rPr>
              <a:t> </a:t>
            </a:r>
            <a:r>
              <a:rPr sz="1050" b="0" dirty="0" err="1">
                <a:solidFill>
                  <a:srgbClr val="6C757D"/>
                </a:solidFill>
                <a:latin typeface="NanumGothic"/>
              </a:rPr>
              <a:t>없는</a:t>
            </a:r>
            <a:r>
              <a:rPr sz="1050" b="0" dirty="0">
                <a:solidFill>
                  <a:srgbClr val="6C757D"/>
                </a:solidFill>
                <a:latin typeface="NanumGothic"/>
              </a:rPr>
              <a:t> </a:t>
            </a:r>
            <a:r>
              <a:rPr sz="1050" b="0" dirty="0" err="1">
                <a:solidFill>
                  <a:srgbClr val="6C757D"/>
                </a:solidFill>
                <a:latin typeface="NanumGothic"/>
              </a:rPr>
              <a:t>지표가</a:t>
            </a:r>
            <a:r>
              <a:rPr sz="1050" b="0" dirty="0">
                <a:solidFill>
                  <a:srgbClr val="6C757D"/>
                </a:solidFill>
                <a:latin typeface="NanumGothic"/>
              </a:rPr>
              <a:t> </a:t>
            </a:r>
            <a:r>
              <a:rPr sz="1050" b="0" dirty="0" err="1">
                <a:solidFill>
                  <a:srgbClr val="6C757D"/>
                </a:solidFill>
                <a:latin typeface="NanumGothic"/>
              </a:rPr>
              <a:t>있었습니다</a:t>
            </a:r>
            <a:endParaRPr sz="1050" b="0" dirty="0">
              <a:solidFill>
                <a:srgbClr val="6C757D"/>
              </a:solidFill>
              <a:latin typeface="NanumGothic"/>
            </a:endParaRPr>
          </a:p>
        </p:txBody>
      </p:sp>
      <p:sp>
        <p:nvSpPr>
          <p:cNvPr id="16" name="TextBox 15"/>
          <p:cNvSpPr txBox="1"/>
          <p:nvPr/>
        </p:nvSpPr>
        <p:spPr>
          <a:xfrm>
            <a:off x="3639312" y="3227832"/>
            <a:ext cx="2240280" cy="274320"/>
          </a:xfrm>
          <a:prstGeom prst="rect">
            <a:avLst/>
          </a:prstGeom>
          <a:noFill/>
        </p:spPr>
        <p:txBody>
          <a:bodyPr wrap="square" lIns="0" tIns="0" rIns="0" bIns="0" anchor="t">
            <a:spAutoFit/>
          </a:bodyPr>
          <a:lstStyle/>
          <a:p>
            <a:pPr algn="ctr">
              <a:lnSpc>
                <a:spcPct val="135000"/>
              </a:lnSpc>
            </a:pPr>
            <a:r>
              <a:rPr sz="1050" b="1">
                <a:solidFill>
                  <a:srgbClr val="00689D"/>
                </a:solidFill>
                <a:latin typeface="NanumGothic"/>
              </a:rPr>
              <a:t>공식 화면에서 보완</a:t>
            </a:r>
          </a:p>
        </p:txBody>
      </p:sp>
      <p:sp>
        <p:nvSpPr>
          <p:cNvPr id="17" name="Rounded Rectangle 16"/>
          <p:cNvSpPr/>
          <p:nvPr/>
        </p:nvSpPr>
        <p:spPr>
          <a:xfrm>
            <a:off x="6135624" y="2011680"/>
            <a:ext cx="2606040" cy="1572768"/>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35624" y="2011680"/>
            <a:ext cx="2606040" cy="6400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35624" y="2267712"/>
            <a:ext cx="260604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섞이지 않는 자료</a:t>
            </a:r>
          </a:p>
        </p:txBody>
      </p:sp>
      <p:sp>
        <p:nvSpPr>
          <p:cNvPr id="20" name="TextBox 19"/>
          <p:cNvSpPr txBox="1"/>
          <p:nvPr/>
        </p:nvSpPr>
        <p:spPr>
          <a:xfrm>
            <a:off x="6318504" y="2688336"/>
            <a:ext cx="2240280" cy="548640"/>
          </a:xfrm>
          <a:prstGeom prst="rect">
            <a:avLst/>
          </a:prstGeom>
          <a:noFill/>
        </p:spPr>
        <p:txBody>
          <a:bodyPr wrap="square" lIns="0" tIns="0" rIns="0" bIns="0" anchor="t">
            <a:spAutoFit/>
          </a:bodyPr>
          <a:lstStyle/>
          <a:p>
            <a:pPr algn="ctr">
              <a:lnSpc>
                <a:spcPct val="130000"/>
              </a:lnSpc>
            </a:pPr>
            <a:r>
              <a:rPr sz="1050" b="0">
                <a:solidFill>
                  <a:srgbClr val="6C757D"/>
                </a:solidFill>
                <a:latin typeface="NanumGothic"/>
              </a:rPr>
              <a:t>정의가 다른 값을 이으면 달성도가 폭주합니다</a:t>
            </a:r>
          </a:p>
        </p:txBody>
      </p:sp>
      <p:sp>
        <p:nvSpPr>
          <p:cNvPr id="21" name="TextBox 20"/>
          <p:cNvSpPr txBox="1"/>
          <p:nvPr/>
        </p:nvSpPr>
        <p:spPr>
          <a:xfrm>
            <a:off x="6318504" y="3227832"/>
            <a:ext cx="2240280" cy="274320"/>
          </a:xfrm>
          <a:prstGeom prst="rect">
            <a:avLst/>
          </a:prstGeom>
          <a:noFill/>
        </p:spPr>
        <p:txBody>
          <a:bodyPr wrap="square" lIns="0" tIns="0" rIns="0" bIns="0" anchor="t">
            <a:spAutoFit/>
          </a:bodyPr>
          <a:lstStyle/>
          <a:p>
            <a:pPr algn="ctr">
              <a:lnSpc>
                <a:spcPct val="135000"/>
              </a:lnSpc>
            </a:pPr>
            <a:r>
              <a:rPr sz="1050" b="1">
                <a:solidFill>
                  <a:srgbClr val="C98A1E"/>
                </a:solidFill>
                <a:latin typeface="NanumGothic"/>
              </a:rPr>
              <a:t>맞지 않으면 싣지 않음</a:t>
            </a:r>
          </a:p>
        </p:txBody>
      </p:sp>
      <p:sp>
        <p:nvSpPr>
          <p:cNvPr id="22" name="Rounded Rectangle 21"/>
          <p:cNvSpPr/>
          <p:nvPr/>
        </p:nvSpPr>
        <p:spPr>
          <a:xfrm>
            <a:off x="8814816" y="2011680"/>
            <a:ext cx="2606040" cy="1572768"/>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814816" y="2011680"/>
            <a:ext cx="2606040" cy="64008"/>
          </a:xfrm>
          <a:prstGeom prst="rect">
            <a:avLst/>
          </a:prstGeom>
          <a:solidFill>
            <a:srgbClr val="C93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14816" y="2267712"/>
            <a:ext cx="2606040" cy="320040"/>
          </a:xfrm>
          <a:prstGeom prst="rect">
            <a:avLst/>
          </a:prstGeom>
          <a:noFill/>
        </p:spPr>
        <p:txBody>
          <a:bodyPr wrap="square" lIns="0" tIns="0" rIns="0" bIns="0" anchor="t">
            <a:spAutoFit/>
          </a:bodyPr>
          <a:lstStyle/>
          <a:p>
            <a:pPr algn="ctr">
              <a:lnSpc>
                <a:spcPct val="135000"/>
              </a:lnSpc>
            </a:pPr>
            <a:r>
              <a:rPr sz="1500" b="1">
                <a:solidFill>
                  <a:srgbClr val="0A3D5C"/>
                </a:solidFill>
                <a:latin typeface="NanumGothic"/>
              </a:rPr>
              <a:t>엉뚱한 첨부</a:t>
            </a:r>
          </a:p>
        </p:txBody>
      </p:sp>
      <p:sp>
        <p:nvSpPr>
          <p:cNvPr id="25" name="TextBox 24"/>
          <p:cNvSpPr txBox="1"/>
          <p:nvPr/>
        </p:nvSpPr>
        <p:spPr>
          <a:xfrm>
            <a:off x="8997696" y="2688336"/>
            <a:ext cx="2240280" cy="548640"/>
          </a:xfrm>
          <a:prstGeom prst="rect">
            <a:avLst/>
          </a:prstGeom>
          <a:noFill/>
        </p:spPr>
        <p:txBody>
          <a:bodyPr wrap="square" lIns="0" tIns="0" rIns="0" bIns="0" anchor="t">
            <a:spAutoFit/>
          </a:bodyPr>
          <a:lstStyle/>
          <a:p>
            <a:pPr algn="ctr">
              <a:lnSpc>
                <a:spcPct val="130000"/>
              </a:lnSpc>
            </a:pPr>
            <a:r>
              <a:rPr sz="1050" b="0">
                <a:solidFill>
                  <a:srgbClr val="6C757D"/>
                </a:solidFill>
                <a:latin typeface="NanumGothic"/>
              </a:rPr>
              <a:t>계획 원문이 아닌 문서가 붙어 있었습니다</a:t>
            </a:r>
          </a:p>
        </p:txBody>
      </p:sp>
      <p:sp>
        <p:nvSpPr>
          <p:cNvPr id="26" name="TextBox 25"/>
          <p:cNvSpPr txBox="1"/>
          <p:nvPr/>
        </p:nvSpPr>
        <p:spPr>
          <a:xfrm>
            <a:off x="8997696" y="3227832"/>
            <a:ext cx="2240280" cy="274320"/>
          </a:xfrm>
          <a:prstGeom prst="rect">
            <a:avLst/>
          </a:prstGeom>
          <a:noFill/>
        </p:spPr>
        <p:txBody>
          <a:bodyPr wrap="square" lIns="0" tIns="0" rIns="0" bIns="0" anchor="t">
            <a:spAutoFit/>
          </a:bodyPr>
          <a:lstStyle/>
          <a:p>
            <a:pPr algn="ctr">
              <a:lnSpc>
                <a:spcPct val="135000"/>
              </a:lnSpc>
            </a:pPr>
            <a:r>
              <a:rPr sz="1050" b="1">
                <a:solidFill>
                  <a:srgbClr val="C93B3A"/>
                </a:solidFill>
                <a:latin typeface="NanumGothic"/>
              </a:rPr>
              <a:t>떼어내고 사유를 기록</a:t>
            </a:r>
          </a:p>
        </p:txBody>
      </p:sp>
      <p:sp>
        <p:nvSpPr>
          <p:cNvPr id="27" name="Rounded Rectangle 26"/>
          <p:cNvSpPr/>
          <p:nvPr/>
        </p:nvSpPr>
        <p:spPr>
          <a:xfrm>
            <a:off x="777240" y="3822191"/>
            <a:ext cx="5257800" cy="18288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51560" y="4023360"/>
            <a:ext cx="4754880" cy="320040"/>
          </a:xfrm>
          <a:prstGeom prst="rect">
            <a:avLst/>
          </a:prstGeom>
          <a:noFill/>
        </p:spPr>
        <p:txBody>
          <a:bodyPr wrap="square" lIns="0" tIns="0" rIns="0" bIns="0" anchor="t">
            <a:spAutoFit/>
          </a:bodyPr>
          <a:lstStyle/>
          <a:p>
            <a:pPr algn="l">
              <a:lnSpc>
                <a:spcPct val="135000"/>
              </a:lnSpc>
            </a:pPr>
            <a:r>
              <a:rPr sz="1350" b="1">
                <a:solidFill>
                  <a:srgbClr val="0A3D5C"/>
                </a:solidFill>
                <a:latin typeface="NanumGothic"/>
              </a:rPr>
              <a:t>실제로 이런 것이 섞여 있었습니다</a:t>
            </a:r>
          </a:p>
        </p:txBody>
      </p:sp>
      <p:sp>
        <p:nvSpPr>
          <p:cNvPr id="29" name="TextBox 28"/>
          <p:cNvSpPr txBox="1"/>
          <p:nvPr/>
        </p:nvSpPr>
        <p:spPr>
          <a:xfrm>
            <a:off x="1051560" y="4443984"/>
            <a:ext cx="4754880" cy="1097280"/>
          </a:xfrm>
          <a:prstGeom prst="rect">
            <a:avLst/>
          </a:prstGeom>
          <a:noFill/>
        </p:spPr>
        <p:txBody>
          <a:bodyPr wrap="square" lIns="0" tIns="0" rIns="0" bIns="0" anchor="t">
            <a:spAutoFit/>
          </a:bodyPr>
          <a:lstStyle/>
          <a:p>
            <a:pPr algn="l">
              <a:lnSpc>
                <a:spcPct val="160000"/>
              </a:lnSpc>
            </a:pPr>
            <a:r>
              <a:rPr sz="1150" b="0">
                <a:solidFill>
                  <a:srgbClr val="1A1D21"/>
                </a:solidFill>
                <a:latin typeface="NanumGothic"/>
              </a:rPr>
              <a:t>「구조ㆍ구급 기본계획」 자리에 제주 거리두기 안내문</a:t>
            </a:r>
          </a:p>
          <a:p>
            <a:pPr algn="l">
              <a:lnSpc>
                <a:spcPct val="160000"/>
              </a:lnSpc>
            </a:pPr>
            <a:r>
              <a:rPr sz="1150" b="0">
                <a:solidFill>
                  <a:srgbClr val="1A1D21"/>
                </a:solidFill>
                <a:latin typeface="NanumGothic"/>
              </a:rPr>
              <a:t>「가축분뇨 기본계획」 자리에 포천시 결재 공문</a:t>
            </a:r>
          </a:p>
          <a:p>
            <a:pPr algn="l">
              <a:lnSpc>
                <a:spcPct val="160000"/>
              </a:lnSpc>
            </a:pPr>
            <a:r>
              <a:rPr sz="1150" b="0">
                <a:solidFill>
                  <a:srgbClr val="1A1D21"/>
                </a:solidFill>
                <a:latin typeface="NanumGothic"/>
              </a:rPr>
              <a:t>「해양조사기본계획」 자리에 갯벌 기본계획</a:t>
            </a:r>
          </a:p>
        </p:txBody>
      </p:sp>
      <p:sp>
        <p:nvSpPr>
          <p:cNvPr id="30" name="Rounded Rectangle 29"/>
          <p:cNvSpPr/>
          <p:nvPr/>
        </p:nvSpPr>
        <p:spPr>
          <a:xfrm>
            <a:off x="6172200" y="3822191"/>
            <a:ext cx="5212080" cy="18288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023360"/>
            <a:ext cx="4754880" cy="320040"/>
          </a:xfrm>
          <a:prstGeom prst="rect">
            <a:avLst/>
          </a:prstGeom>
          <a:noFill/>
        </p:spPr>
        <p:txBody>
          <a:bodyPr wrap="square" lIns="0" tIns="0" rIns="0" bIns="0" anchor="t">
            <a:spAutoFit/>
          </a:bodyPr>
          <a:lstStyle/>
          <a:p>
            <a:pPr algn="l">
              <a:lnSpc>
                <a:spcPct val="135000"/>
              </a:lnSpc>
            </a:pPr>
            <a:r>
              <a:rPr sz="1350" b="1">
                <a:solidFill>
                  <a:srgbClr val="0A3D5C"/>
                </a:solidFill>
                <a:latin typeface="NanumGothic"/>
              </a:rPr>
              <a:t>그래서 계획마다 신뢰도를 붙였습니다</a:t>
            </a:r>
          </a:p>
        </p:txBody>
      </p:sp>
      <p:sp>
        <p:nvSpPr>
          <p:cNvPr id="32" name="Oval 31"/>
          <p:cNvSpPr/>
          <p:nvPr/>
        </p:nvSpPr>
        <p:spPr>
          <a:xfrm>
            <a:off x="6446520" y="4544568"/>
            <a:ext cx="118872" cy="118872"/>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75120" y="4480560"/>
            <a:ext cx="1051560" cy="256032"/>
          </a:xfrm>
          <a:prstGeom prst="rect">
            <a:avLst/>
          </a:prstGeom>
          <a:noFill/>
        </p:spPr>
        <p:txBody>
          <a:bodyPr wrap="square" lIns="0" tIns="0" rIns="0" bIns="0" anchor="t">
            <a:spAutoFit/>
          </a:bodyPr>
          <a:lstStyle/>
          <a:p>
            <a:pPr algn="l">
              <a:lnSpc>
                <a:spcPct val="135000"/>
              </a:lnSpc>
            </a:pPr>
            <a:r>
              <a:rPr sz="1150" b="1">
                <a:solidFill>
                  <a:srgbClr val="2B8A3E"/>
                </a:solidFill>
                <a:latin typeface="NanumGothic"/>
              </a:rPr>
              <a:t>확인</a:t>
            </a:r>
          </a:p>
        </p:txBody>
      </p:sp>
      <p:sp>
        <p:nvSpPr>
          <p:cNvPr id="34" name="TextBox 33"/>
          <p:cNvSpPr txBox="1"/>
          <p:nvPr/>
        </p:nvSpPr>
        <p:spPr>
          <a:xfrm>
            <a:off x="7680960" y="4489704"/>
            <a:ext cx="3566160" cy="256032"/>
          </a:xfrm>
          <a:prstGeom prst="rect">
            <a:avLst/>
          </a:prstGeom>
          <a:noFill/>
        </p:spPr>
        <p:txBody>
          <a:bodyPr wrap="square" lIns="0" tIns="0" rIns="0" bIns="0" anchor="t">
            <a:spAutoFit/>
          </a:bodyPr>
          <a:lstStyle/>
          <a:p>
            <a:pPr algn="l">
              <a:lnSpc>
                <a:spcPct val="135000"/>
              </a:lnSpc>
            </a:pPr>
            <a:r>
              <a:rPr sz="1050" b="0" dirty="0" err="1">
                <a:solidFill>
                  <a:srgbClr val="6C757D"/>
                </a:solidFill>
                <a:latin typeface="NanumGothic"/>
              </a:rPr>
              <a:t>정부</a:t>
            </a:r>
            <a:r>
              <a:rPr sz="1050" b="0" dirty="0">
                <a:solidFill>
                  <a:srgbClr val="6C757D"/>
                </a:solidFill>
                <a:latin typeface="NanumGothic"/>
              </a:rPr>
              <a:t> </a:t>
            </a:r>
            <a:r>
              <a:rPr sz="1050" b="0" dirty="0" err="1">
                <a:solidFill>
                  <a:srgbClr val="6C757D"/>
                </a:solidFill>
                <a:latin typeface="NanumGothic"/>
              </a:rPr>
              <a:t>원문·공식</a:t>
            </a:r>
            <a:r>
              <a:rPr sz="1050" b="0" dirty="0">
                <a:solidFill>
                  <a:srgbClr val="6C757D"/>
                </a:solidFill>
                <a:latin typeface="NanumGothic"/>
              </a:rPr>
              <a:t> </a:t>
            </a:r>
            <a:r>
              <a:rPr sz="1050" b="0" dirty="0" err="1">
                <a:solidFill>
                  <a:srgbClr val="6C757D"/>
                </a:solidFill>
                <a:latin typeface="NanumGothic"/>
              </a:rPr>
              <a:t>발표로</a:t>
            </a:r>
            <a:r>
              <a:rPr sz="1050" b="0" dirty="0">
                <a:solidFill>
                  <a:srgbClr val="6C757D"/>
                </a:solidFill>
                <a:latin typeface="NanumGothic"/>
              </a:rPr>
              <a:t> </a:t>
            </a:r>
            <a:r>
              <a:rPr sz="1050" b="0" dirty="0" err="1">
                <a:solidFill>
                  <a:srgbClr val="6C757D"/>
                </a:solidFill>
                <a:latin typeface="NanumGothic"/>
              </a:rPr>
              <a:t>확인</a:t>
            </a:r>
            <a:endParaRPr sz="1050" b="0" dirty="0">
              <a:solidFill>
                <a:srgbClr val="6C757D"/>
              </a:solidFill>
              <a:latin typeface="NanumGothic"/>
            </a:endParaRPr>
          </a:p>
        </p:txBody>
      </p:sp>
      <p:sp>
        <p:nvSpPr>
          <p:cNvPr id="35" name="Oval 34"/>
          <p:cNvSpPr/>
          <p:nvPr/>
        </p:nvSpPr>
        <p:spPr>
          <a:xfrm>
            <a:off x="6446520" y="4828032"/>
            <a:ext cx="118872" cy="118872"/>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0" y="4764024"/>
            <a:ext cx="1051560" cy="256032"/>
          </a:xfrm>
          <a:prstGeom prst="rect">
            <a:avLst/>
          </a:prstGeom>
          <a:noFill/>
        </p:spPr>
        <p:txBody>
          <a:bodyPr wrap="square" lIns="0" tIns="0" rIns="0" bIns="0" anchor="t">
            <a:spAutoFit/>
          </a:bodyPr>
          <a:lstStyle/>
          <a:p>
            <a:pPr algn="l">
              <a:lnSpc>
                <a:spcPct val="135000"/>
              </a:lnSpc>
            </a:pPr>
            <a:r>
              <a:rPr sz="1150" b="1">
                <a:solidFill>
                  <a:srgbClr val="C98A1E"/>
                </a:solidFill>
                <a:latin typeface="NanumGothic"/>
              </a:rPr>
              <a:t>미흡</a:t>
            </a:r>
          </a:p>
        </p:txBody>
      </p:sp>
      <p:sp>
        <p:nvSpPr>
          <p:cNvPr id="37" name="TextBox 36"/>
          <p:cNvSpPr txBox="1"/>
          <p:nvPr/>
        </p:nvSpPr>
        <p:spPr>
          <a:xfrm>
            <a:off x="7680960" y="4773168"/>
            <a:ext cx="3566160" cy="256032"/>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첨부가 원문인지 확인되지 않음</a:t>
            </a:r>
          </a:p>
        </p:txBody>
      </p:sp>
      <p:sp>
        <p:nvSpPr>
          <p:cNvPr id="38" name="Oval 37"/>
          <p:cNvSpPr/>
          <p:nvPr/>
        </p:nvSpPr>
        <p:spPr>
          <a:xfrm>
            <a:off x="6446520" y="5111496"/>
            <a:ext cx="118872" cy="118872"/>
          </a:xfrm>
          <a:prstGeom prst="ellipse">
            <a:avLst/>
          </a:prstGeom>
          <a:solidFill>
            <a:srgbClr val="C249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675120" y="5047488"/>
            <a:ext cx="1051560" cy="256032"/>
          </a:xfrm>
          <a:prstGeom prst="rect">
            <a:avLst/>
          </a:prstGeom>
          <a:noFill/>
        </p:spPr>
        <p:txBody>
          <a:bodyPr wrap="square" lIns="0" tIns="0" rIns="0" bIns="0" anchor="t">
            <a:spAutoFit/>
          </a:bodyPr>
          <a:lstStyle/>
          <a:p>
            <a:pPr algn="l">
              <a:lnSpc>
                <a:spcPct val="135000"/>
              </a:lnSpc>
            </a:pPr>
            <a:r>
              <a:rPr sz="1150" b="1">
                <a:solidFill>
                  <a:srgbClr val="C2490A"/>
                </a:solidFill>
                <a:latin typeface="NanumGothic"/>
              </a:rPr>
              <a:t>참고</a:t>
            </a:r>
          </a:p>
        </p:txBody>
      </p:sp>
      <p:sp>
        <p:nvSpPr>
          <p:cNvPr id="40" name="TextBox 39"/>
          <p:cNvSpPr txBox="1"/>
          <p:nvPr/>
        </p:nvSpPr>
        <p:spPr>
          <a:xfrm>
            <a:off x="7680960" y="5056631"/>
            <a:ext cx="3566160" cy="256032"/>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언론·2차자료 또는 확정본 미확인</a:t>
            </a:r>
          </a:p>
        </p:txBody>
      </p:sp>
      <p:sp>
        <p:nvSpPr>
          <p:cNvPr id="41" name="Oval 40"/>
          <p:cNvSpPr/>
          <p:nvPr/>
        </p:nvSpPr>
        <p:spPr>
          <a:xfrm>
            <a:off x="6446520" y="5394959"/>
            <a:ext cx="118872" cy="118872"/>
          </a:xfrm>
          <a:prstGeom prst="ellipse">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675120" y="5330951"/>
            <a:ext cx="1051560" cy="256032"/>
          </a:xfrm>
          <a:prstGeom prst="rect">
            <a:avLst/>
          </a:prstGeom>
          <a:noFill/>
        </p:spPr>
        <p:txBody>
          <a:bodyPr wrap="square" lIns="0" tIns="0" rIns="0" bIns="0" anchor="t">
            <a:spAutoFit/>
          </a:bodyPr>
          <a:lstStyle/>
          <a:p>
            <a:pPr algn="l">
              <a:lnSpc>
                <a:spcPct val="135000"/>
              </a:lnSpc>
            </a:pPr>
            <a:r>
              <a:rPr sz="1150" b="1">
                <a:solidFill>
                  <a:srgbClr val="6C757D"/>
                </a:solidFill>
                <a:latin typeface="NanumGothic"/>
              </a:rPr>
              <a:t>미확인</a:t>
            </a:r>
          </a:p>
        </p:txBody>
      </p:sp>
      <p:sp>
        <p:nvSpPr>
          <p:cNvPr id="43" name="TextBox 42"/>
          <p:cNvSpPr txBox="1"/>
          <p:nvPr/>
        </p:nvSpPr>
        <p:spPr>
          <a:xfrm>
            <a:off x="7680960" y="5340095"/>
            <a:ext cx="3566160" cy="256032"/>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근거를 찾지 못함 — 추정하지 않음</a:t>
            </a:r>
          </a:p>
        </p:txBody>
      </p:sp>
      <p:sp>
        <p:nvSpPr>
          <p:cNvPr id="44" name="Rounded Rectangle 43"/>
          <p:cNvSpPr/>
          <p:nvPr/>
        </p:nvSpPr>
        <p:spPr>
          <a:xfrm>
            <a:off x="777240" y="5943600"/>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777240" y="5943600"/>
            <a:ext cx="50292" cy="56692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024128" y="6071616"/>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「미흡」은 첨부가 계획 원문인지 확인되지 않았다는 뜻이지, 계획 자체가 의심스럽다는 뜻이 아닙니다.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07</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a:solidFill>
                  <a:srgbClr val="0A3D5C"/>
                </a:solidFill>
                <a:latin typeface="NanumGothic"/>
              </a:rPr>
              <a:t>이행현황을 두 가지로 봅니다</a:t>
            </a: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「지금 어디까지 왔나」와 「방향이 맞나」는 다른 질문입니다. 둘을 같은 색으로 칠하면 같은 말로 읽힙니다.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011680"/>
            <a:ext cx="5257800" cy="3063240"/>
          </a:xfrm>
          <a:prstGeom prst="roundRect">
            <a:avLst>
              <a:gd name="adj" fmla="val 6000"/>
            </a:avLst>
          </a:prstGeom>
          <a:solidFill>
            <a:srgbClr val="FFFFFF"/>
          </a:solidFill>
          <a:ln w="15875">
            <a:solidFill>
              <a:srgbClr val="00689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240280"/>
            <a:ext cx="4663440" cy="365760"/>
          </a:xfrm>
          <a:prstGeom prst="rect">
            <a:avLst/>
          </a:prstGeom>
          <a:noFill/>
        </p:spPr>
        <p:txBody>
          <a:bodyPr wrap="square" lIns="0" tIns="0" rIns="0" bIns="0" anchor="t">
            <a:spAutoFit/>
          </a:bodyPr>
          <a:lstStyle/>
          <a:p>
            <a:pPr algn="l">
              <a:lnSpc>
                <a:spcPct val="135000"/>
              </a:lnSpc>
            </a:pPr>
            <a:r>
              <a:rPr sz="2100" b="1">
                <a:solidFill>
                  <a:srgbClr val="0A3D5C"/>
                </a:solidFill>
                <a:latin typeface="NanumGothic"/>
              </a:rPr>
              <a:t>달성도</a:t>
            </a:r>
          </a:p>
        </p:txBody>
      </p:sp>
      <p:sp>
        <p:nvSpPr>
          <p:cNvPr id="9" name="TextBox 8"/>
          <p:cNvSpPr txBox="1"/>
          <p:nvPr/>
        </p:nvSpPr>
        <p:spPr>
          <a:xfrm>
            <a:off x="1097280" y="2633472"/>
            <a:ext cx="4663440" cy="320040"/>
          </a:xfrm>
          <a:prstGeom prst="rect">
            <a:avLst/>
          </a:prstGeom>
          <a:noFill/>
        </p:spPr>
        <p:txBody>
          <a:bodyPr wrap="square" lIns="0" tIns="0" rIns="0" bIns="0" anchor="t">
            <a:spAutoFit/>
          </a:bodyPr>
          <a:lstStyle/>
          <a:p>
            <a:pPr algn="l">
              <a:lnSpc>
                <a:spcPct val="135000"/>
              </a:lnSpc>
            </a:pPr>
            <a:r>
              <a:rPr sz="1250" b="0">
                <a:solidFill>
                  <a:srgbClr val="00689D"/>
                </a:solidFill>
                <a:latin typeface="NanumGothic"/>
              </a:rPr>
              <a:t>지금 어디까지 왔나</a:t>
            </a:r>
          </a:p>
        </p:txBody>
      </p:sp>
      <p:sp>
        <p:nvSpPr>
          <p:cNvPr id="10" name="TextBox 9"/>
          <p:cNvSpPr txBox="1"/>
          <p:nvPr/>
        </p:nvSpPr>
        <p:spPr>
          <a:xfrm>
            <a:off x="1097280" y="3035808"/>
            <a:ext cx="4709160" cy="548640"/>
          </a:xfrm>
          <a:prstGeom prst="rect">
            <a:avLst/>
          </a:prstGeom>
          <a:noFill/>
        </p:spPr>
        <p:txBody>
          <a:bodyPr wrap="square" lIns="0" tIns="0" rIns="0" bIns="0" anchor="t">
            <a:spAutoFit/>
          </a:bodyPr>
          <a:lstStyle/>
          <a:p>
            <a:pPr algn="l">
              <a:lnSpc>
                <a:spcPct val="130000"/>
              </a:lnSpc>
            </a:pPr>
            <a:r>
              <a:rPr sz="1200" b="0">
                <a:solidFill>
                  <a:srgbClr val="1A1D21"/>
                </a:solidFill>
                <a:latin typeface="NanumGothic"/>
              </a:rPr>
              <a:t>(최신값 − 기준값) ÷ (목표값 − 기준값)</a:t>
            </a:r>
          </a:p>
        </p:txBody>
      </p:sp>
      <p:sp>
        <p:nvSpPr>
          <p:cNvPr id="11" name="Rectangle 10"/>
          <p:cNvSpPr/>
          <p:nvPr/>
        </p:nvSpPr>
        <p:spPr>
          <a:xfrm>
            <a:off x="1097280" y="3456432"/>
            <a:ext cx="4617720"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97280" y="3685032"/>
            <a:ext cx="128016" cy="128016"/>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353312" y="3639312"/>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달성 · 순조</a:t>
            </a:r>
          </a:p>
        </p:txBody>
      </p:sp>
      <p:sp>
        <p:nvSpPr>
          <p:cNvPr id="14" name="Oval 13"/>
          <p:cNvSpPr/>
          <p:nvPr/>
        </p:nvSpPr>
        <p:spPr>
          <a:xfrm>
            <a:off x="1097280" y="3977639"/>
            <a:ext cx="128016" cy="128016"/>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53312" y="3931920"/>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지연</a:t>
            </a:r>
          </a:p>
        </p:txBody>
      </p:sp>
      <p:sp>
        <p:nvSpPr>
          <p:cNvPr id="16" name="Oval 15"/>
          <p:cNvSpPr/>
          <p:nvPr/>
        </p:nvSpPr>
        <p:spPr>
          <a:xfrm>
            <a:off x="1097280" y="4270248"/>
            <a:ext cx="128016" cy="128016"/>
          </a:xfrm>
          <a:prstGeom prst="ellipse">
            <a:avLst/>
          </a:prstGeom>
          <a:solidFill>
            <a:srgbClr val="C93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53312" y="4224528"/>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악화</a:t>
            </a:r>
          </a:p>
        </p:txBody>
      </p:sp>
      <p:sp>
        <p:nvSpPr>
          <p:cNvPr id="18" name="Oval 17"/>
          <p:cNvSpPr/>
          <p:nvPr/>
        </p:nvSpPr>
        <p:spPr>
          <a:xfrm>
            <a:off x="1097280" y="4562856"/>
            <a:ext cx="128016" cy="128016"/>
          </a:xfrm>
          <a:prstGeom prst="ellipse">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353312" y="4517136"/>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모니터링 · 자료없음</a:t>
            </a:r>
          </a:p>
        </p:txBody>
      </p:sp>
      <p:sp>
        <p:nvSpPr>
          <p:cNvPr id="20" name="TextBox 19"/>
          <p:cNvSpPr txBox="1"/>
          <p:nvPr/>
        </p:nvSpPr>
        <p:spPr>
          <a:xfrm>
            <a:off x="1097280" y="4709160"/>
            <a:ext cx="4709160" cy="32004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목표에서 멀어졌으면 「후퇴 −12%」처럼 음수를 그대로 보여줍니다.</a:t>
            </a:r>
          </a:p>
        </p:txBody>
      </p:sp>
      <p:sp>
        <p:nvSpPr>
          <p:cNvPr id="21" name="Rounded Rectangle 20"/>
          <p:cNvSpPr/>
          <p:nvPr/>
        </p:nvSpPr>
        <p:spPr>
          <a:xfrm>
            <a:off x="6263640" y="2011680"/>
            <a:ext cx="5120640" cy="3063240"/>
          </a:xfrm>
          <a:prstGeom prst="roundRect">
            <a:avLst>
              <a:gd name="adj" fmla="val 6000"/>
            </a:avLst>
          </a:prstGeom>
          <a:solidFill>
            <a:srgbClr val="FFFFFF"/>
          </a:solidFill>
          <a:ln w="15875">
            <a:solidFill>
              <a:srgbClr val="933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2240280"/>
            <a:ext cx="4572000" cy="365760"/>
          </a:xfrm>
          <a:prstGeom prst="rect">
            <a:avLst/>
          </a:prstGeom>
          <a:noFill/>
        </p:spPr>
        <p:txBody>
          <a:bodyPr wrap="square" lIns="0" tIns="0" rIns="0" bIns="0" anchor="t">
            <a:spAutoFit/>
          </a:bodyPr>
          <a:lstStyle/>
          <a:p>
            <a:pPr algn="l">
              <a:lnSpc>
                <a:spcPct val="135000"/>
              </a:lnSpc>
            </a:pPr>
            <a:r>
              <a:rPr sz="2100" b="1">
                <a:solidFill>
                  <a:srgbClr val="6B21A8"/>
                </a:solidFill>
                <a:latin typeface="NanumGothic"/>
              </a:rPr>
              <a:t>목표순항도</a:t>
            </a:r>
          </a:p>
        </p:txBody>
      </p:sp>
      <p:sp>
        <p:nvSpPr>
          <p:cNvPr id="23" name="TextBox 22"/>
          <p:cNvSpPr txBox="1"/>
          <p:nvPr/>
        </p:nvSpPr>
        <p:spPr>
          <a:xfrm>
            <a:off x="6583680" y="2633472"/>
            <a:ext cx="4572000" cy="320040"/>
          </a:xfrm>
          <a:prstGeom prst="rect">
            <a:avLst/>
          </a:prstGeom>
          <a:noFill/>
        </p:spPr>
        <p:txBody>
          <a:bodyPr wrap="square" lIns="0" tIns="0" rIns="0" bIns="0" anchor="t">
            <a:spAutoFit/>
          </a:bodyPr>
          <a:lstStyle/>
          <a:p>
            <a:pPr algn="l">
              <a:lnSpc>
                <a:spcPct val="135000"/>
              </a:lnSpc>
            </a:pPr>
            <a:r>
              <a:rPr sz="1250" b="0">
                <a:solidFill>
                  <a:srgbClr val="9333EA"/>
                </a:solidFill>
                <a:latin typeface="NanumGothic"/>
              </a:rPr>
              <a:t>추세가 2040 목표 쪽인가</a:t>
            </a:r>
          </a:p>
        </p:txBody>
      </p:sp>
      <p:sp>
        <p:nvSpPr>
          <p:cNvPr id="24" name="TextBox 23"/>
          <p:cNvSpPr txBox="1"/>
          <p:nvPr/>
        </p:nvSpPr>
        <p:spPr>
          <a:xfrm>
            <a:off x="6583680" y="3035808"/>
            <a:ext cx="4572000" cy="548640"/>
          </a:xfrm>
          <a:prstGeom prst="rect">
            <a:avLst/>
          </a:prstGeom>
          <a:noFill/>
        </p:spPr>
        <p:txBody>
          <a:bodyPr wrap="square" lIns="0" tIns="0" rIns="0" bIns="0" anchor="t">
            <a:spAutoFit/>
          </a:bodyPr>
          <a:lstStyle/>
          <a:p>
            <a:pPr algn="l">
              <a:lnSpc>
                <a:spcPct val="130000"/>
              </a:lnSpc>
            </a:pPr>
            <a:r>
              <a:rPr sz="1200" b="0">
                <a:solidFill>
                  <a:srgbClr val="1A1D21"/>
                </a:solidFill>
                <a:latin typeface="NanumGothic"/>
              </a:rPr>
              <a:t>2024 국가지속가능성 평가가 매긴 날씨</a:t>
            </a:r>
          </a:p>
        </p:txBody>
      </p:sp>
      <p:sp>
        <p:nvSpPr>
          <p:cNvPr id="25" name="Rectangle 24"/>
          <p:cNvSpPr/>
          <p:nvPr/>
        </p:nvSpPr>
        <p:spPr>
          <a:xfrm>
            <a:off x="6583680" y="3456432"/>
            <a:ext cx="4480560"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583680" y="3685032"/>
            <a:ext cx="128016" cy="128016"/>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39712" y="3639312"/>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맑음</a:t>
            </a:r>
          </a:p>
        </p:txBody>
      </p:sp>
      <p:sp>
        <p:nvSpPr>
          <p:cNvPr id="28" name="Oval 27"/>
          <p:cNvSpPr/>
          <p:nvPr/>
        </p:nvSpPr>
        <p:spPr>
          <a:xfrm>
            <a:off x="6583680" y="3977639"/>
            <a:ext cx="128016" cy="128016"/>
          </a:xfrm>
          <a:prstGeom prst="ellipse">
            <a:avLst/>
          </a:prstGeom>
          <a:solidFill>
            <a:srgbClr val="8AA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39712" y="3931920"/>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맑거나 흐림</a:t>
            </a:r>
          </a:p>
        </p:txBody>
      </p:sp>
      <p:sp>
        <p:nvSpPr>
          <p:cNvPr id="30" name="Oval 29"/>
          <p:cNvSpPr/>
          <p:nvPr/>
        </p:nvSpPr>
        <p:spPr>
          <a:xfrm>
            <a:off x="6583680" y="4270248"/>
            <a:ext cx="128016" cy="128016"/>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39712" y="4224528"/>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흐림</a:t>
            </a:r>
          </a:p>
        </p:txBody>
      </p:sp>
      <p:sp>
        <p:nvSpPr>
          <p:cNvPr id="32" name="Oval 31"/>
          <p:cNvSpPr/>
          <p:nvPr/>
        </p:nvSpPr>
        <p:spPr>
          <a:xfrm>
            <a:off x="6583680" y="4562856"/>
            <a:ext cx="128016" cy="128016"/>
          </a:xfrm>
          <a:prstGeom prst="ellipse">
            <a:avLst/>
          </a:prstGeom>
          <a:solidFill>
            <a:srgbClr val="C93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39712" y="4517136"/>
            <a:ext cx="4114800" cy="256032"/>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뇌우</a:t>
            </a:r>
          </a:p>
        </p:txBody>
      </p:sp>
      <p:sp>
        <p:nvSpPr>
          <p:cNvPr id="34" name="TextBox 33"/>
          <p:cNvSpPr txBox="1"/>
          <p:nvPr/>
        </p:nvSpPr>
        <p:spPr>
          <a:xfrm>
            <a:off x="6583680" y="4709160"/>
            <a:ext cx="4572000" cy="32004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값이 나빠도 개선 중이면 「맑음」이 됩니다.</a:t>
            </a:r>
          </a:p>
        </p:txBody>
      </p:sp>
      <p:sp>
        <p:nvSpPr>
          <p:cNvPr id="35" name="Rounded Rectangle 34"/>
          <p:cNvSpPr/>
          <p:nvPr/>
        </p:nvSpPr>
        <p:spPr>
          <a:xfrm>
            <a:off x="777240" y="5440680"/>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777240" y="5440680"/>
            <a:ext cx="50292" cy="566928"/>
          </a:xfrm>
          <a:prstGeom prst="rect">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24128" y="5568696"/>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두 축은 어긋날 수 있습니다 — 값이 좋은데 정체하면 달성도는 높고 목표순항도는 「흐림」입니다.</a:t>
            </a:r>
          </a:p>
        </p:txBody>
      </p:sp>
      <p:sp>
        <p:nvSpPr>
          <p:cNvPr id="38" name="TextBox 37"/>
          <p:cNvSpPr txBox="1"/>
          <p:nvPr/>
        </p:nvSpPr>
        <p:spPr>
          <a:xfrm>
            <a:off x="777240" y="6172200"/>
            <a:ext cx="10637215" cy="365760"/>
          </a:xfrm>
          <a:prstGeom prst="rect">
            <a:avLst/>
          </a:prstGeom>
          <a:noFill/>
        </p:spPr>
        <p:txBody>
          <a:bodyPr wrap="square" lIns="0" tIns="0" rIns="0" bIns="0" anchor="t">
            <a:spAutoFit/>
          </a:bodyPr>
          <a:lstStyle/>
          <a:p>
            <a:pPr algn="ctr">
              <a:lnSpc>
                <a:spcPct val="135000"/>
              </a:lnSpc>
            </a:pPr>
            <a:r>
              <a:rPr sz="1150" b="0">
                <a:solidFill>
                  <a:srgbClr val="6C757D"/>
                </a:solidFill>
                <a:latin typeface="NanumGothic"/>
              </a:rPr>
              <a:t>기대진행률은 올해가 아니라 최신 데이터가 있는 해를 기준으로 잽니다 — 통계 공표가 늦는 지표까지 「지연」으로 찍히지 않도록</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08</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a:solidFill>
                  <a:srgbClr val="0A3D5C"/>
                </a:solidFill>
                <a:latin typeface="NanumGothic"/>
              </a:rPr>
              <a:t>국제 기준과 견주어 봅니다</a:t>
            </a: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「우리 지표가 UN으로는 몇 번인가」 — 대응마다 왜 이어지는지 한 문장을 붙였습니다.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011680"/>
            <a:ext cx="3456432" cy="9144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194560"/>
            <a:ext cx="3456432" cy="320040"/>
          </a:xfrm>
          <a:prstGeom prst="rect">
            <a:avLst/>
          </a:prstGeom>
          <a:noFill/>
        </p:spPr>
        <p:txBody>
          <a:bodyPr wrap="square" lIns="0" tIns="0" rIns="0" bIns="0" anchor="t">
            <a:spAutoFit/>
          </a:bodyPr>
          <a:lstStyle/>
          <a:p>
            <a:pPr algn="ctr">
              <a:lnSpc>
                <a:spcPct val="135000"/>
              </a:lnSpc>
            </a:pPr>
            <a:r>
              <a:rPr sz="1500" b="1">
                <a:solidFill>
                  <a:srgbClr val="00689D"/>
                </a:solidFill>
                <a:latin typeface="NanumGothic"/>
              </a:rPr>
              <a:t>K-SDGs 지표</a:t>
            </a:r>
          </a:p>
        </p:txBody>
      </p:sp>
      <p:sp>
        <p:nvSpPr>
          <p:cNvPr id="9" name="TextBox 8"/>
          <p:cNvSpPr txBox="1"/>
          <p:nvPr/>
        </p:nvSpPr>
        <p:spPr>
          <a:xfrm>
            <a:off x="777240" y="2551176"/>
            <a:ext cx="3456432" cy="274320"/>
          </a:xfrm>
          <a:prstGeom prst="rect">
            <a:avLst/>
          </a:prstGeom>
          <a:noFill/>
        </p:spPr>
        <p:txBody>
          <a:bodyPr wrap="square" lIns="0" tIns="0" rIns="0" bIns="0" anchor="t">
            <a:spAutoFit/>
          </a:bodyPr>
          <a:lstStyle/>
          <a:p>
            <a:pPr algn="ctr">
              <a:lnSpc>
                <a:spcPct val="135000"/>
              </a:lnSpc>
            </a:pPr>
            <a:r>
              <a:rPr sz="1050" b="0">
                <a:solidFill>
                  <a:srgbClr val="6C757D"/>
                </a:solidFill>
                <a:latin typeface="NanumGothic"/>
              </a:rPr>
              <a:t>국내 계획이 정한 것</a:t>
            </a:r>
          </a:p>
        </p:txBody>
      </p:sp>
      <p:sp>
        <p:nvSpPr>
          <p:cNvPr id="10" name="Left-Right Arrow 9"/>
          <p:cNvSpPr/>
          <p:nvPr/>
        </p:nvSpPr>
        <p:spPr>
          <a:xfrm>
            <a:off x="4297680" y="2340864"/>
            <a:ext cx="320040" cy="256032"/>
          </a:xfrm>
          <a:prstGeom prst="leftRightArrow">
            <a:avLst/>
          </a:prstGeom>
          <a:solidFill>
            <a:srgbClr val="C5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79976" y="2011680"/>
            <a:ext cx="3456432" cy="9144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79976" y="2194560"/>
            <a:ext cx="3456432" cy="320040"/>
          </a:xfrm>
          <a:prstGeom prst="rect">
            <a:avLst/>
          </a:prstGeom>
          <a:noFill/>
        </p:spPr>
        <p:txBody>
          <a:bodyPr wrap="square" lIns="0" tIns="0" rIns="0" bIns="0" anchor="t">
            <a:spAutoFit/>
          </a:bodyPr>
          <a:lstStyle/>
          <a:p>
            <a:pPr algn="ctr">
              <a:lnSpc>
                <a:spcPct val="135000"/>
              </a:lnSpc>
            </a:pPr>
            <a:r>
              <a:rPr sz="1500" b="1">
                <a:solidFill>
                  <a:srgbClr val="2B8A3E"/>
                </a:solidFill>
                <a:latin typeface="NanumGothic"/>
              </a:rPr>
              <a:t>대응 등급 · 근거</a:t>
            </a:r>
          </a:p>
        </p:txBody>
      </p:sp>
      <p:sp>
        <p:nvSpPr>
          <p:cNvPr id="13" name="TextBox 12"/>
          <p:cNvSpPr txBox="1"/>
          <p:nvPr/>
        </p:nvSpPr>
        <p:spPr>
          <a:xfrm>
            <a:off x="4379976" y="2551176"/>
            <a:ext cx="3456432" cy="274320"/>
          </a:xfrm>
          <a:prstGeom prst="rect">
            <a:avLst/>
          </a:prstGeom>
          <a:noFill/>
        </p:spPr>
        <p:txBody>
          <a:bodyPr wrap="square" lIns="0" tIns="0" rIns="0" bIns="0" anchor="t">
            <a:spAutoFit/>
          </a:bodyPr>
          <a:lstStyle/>
          <a:p>
            <a:pPr algn="ctr">
              <a:lnSpc>
                <a:spcPct val="135000"/>
              </a:lnSpc>
            </a:pPr>
            <a:r>
              <a:rPr sz="1050" b="0">
                <a:solidFill>
                  <a:srgbClr val="6C757D"/>
                </a:solidFill>
                <a:latin typeface="NanumGothic"/>
              </a:rPr>
              <a:t>왜 이어지는지 한 문장</a:t>
            </a:r>
          </a:p>
        </p:txBody>
      </p:sp>
      <p:sp>
        <p:nvSpPr>
          <p:cNvPr id="14" name="Left-Right Arrow 13"/>
          <p:cNvSpPr/>
          <p:nvPr/>
        </p:nvSpPr>
        <p:spPr>
          <a:xfrm>
            <a:off x="7900416" y="2340864"/>
            <a:ext cx="320040" cy="256032"/>
          </a:xfrm>
          <a:prstGeom prst="leftRightArrow">
            <a:avLst/>
          </a:prstGeom>
          <a:solidFill>
            <a:srgbClr val="C5CD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982712" y="2011680"/>
            <a:ext cx="3456432" cy="914400"/>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82712" y="2194560"/>
            <a:ext cx="3456432" cy="320040"/>
          </a:xfrm>
          <a:prstGeom prst="rect">
            <a:avLst/>
          </a:prstGeom>
          <a:noFill/>
        </p:spPr>
        <p:txBody>
          <a:bodyPr wrap="square" lIns="0" tIns="0" rIns="0" bIns="0" anchor="t">
            <a:spAutoFit/>
          </a:bodyPr>
          <a:lstStyle/>
          <a:p>
            <a:pPr algn="ctr">
              <a:lnSpc>
                <a:spcPct val="135000"/>
              </a:lnSpc>
            </a:pPr>
            <a:r>
              <a:rPr sz="1500" b="1">
                <a:solidFill>
                  <a:srgbClr val="9333EA"/>
                </a:solidFill>
                <a:latin typeface="NanumGothic"/>
              </a:rPr>
              <a:t>UN 글로벌 지표</a:t>
            </a:r>
          </a:p>
        </p:txBody>
      </p:sp>
      <p:sp>
        <p:nvSpPr>
          <p:cNvPr id="17" name="TextBox 16"/>
          <p:cNvSpPr txBox="1"/>
          <p:nvPr/>
        </p:nvSpPr>
        <p:spPr>
          <a:xfrm>
            <a:off x="7982712" y="2551176"/>
            <a:ext cx="3456432" cy="274320"/>
          </a:xfrm>
          <a:prstGeom prst="rect">
            <a:avLst/>
          </a:prstGeom>
          <a:noFill/>
        </p:spPr>
        <p:txBody>
          <a:bodyPr wrap="square" lIns="0" tIns="0" rIns="0" bIns="0" anchor="t">
            <a:spAutoFit/>
          </a:bodyPr>
          <a:lstStyle/>
          <a:p>
            <a:pPr algn="ctr">
              <a:lnSpc>
                <a:spcPct val="135000"/>
              </a:lnSpc>
            </a:pPr>
            <a:r>
              <a:rPr sz="1050" b="0">
                <a:solidFill>
                  <a:srgbClr val="6C757D"/>
                </a:solidFill>
                <a:latin typeface="NanumGothic"/>
              </a:rPr>
              <a:t>국제 기준 번호</a:t>
            </a:r>
          </a:p>
        </p:txBody>
      </p:sp>
      <p:sp>
        <p:nvSpPr>
          <p:cNvPr id="18" name="TextBox 17"/>
          <p:cNvSpPr txBox="1"/>
          <p:nvPr/>
        </p:nvSpPr>
        <p:spPr>
          <a:xfrm>
            <a:off x="777240" y="3200400"/>
            <a:ext cx="5212080" cy="365760"/>
          </a:xfrm>
          <a:prstGeom prst="rect">
            <a:avLst/>
          </a:prstGeom>
          <a:noFill/>
        </p:spPr>
        <p:txBody>
          <a:bodyPr wrap="square" lIns="0" tIns="0" rIns="0" bIns="0" anchor="t">
            <a:spAutoFit/>
          </a:bodyPr>
          <a:lstStyle/>
          <a:p>
            <a:pPr algn="l">
              <a:lnSpc>
                <a:spcPct val="135000"/>
              </a:lnSpc>
            </a:pPr>
            <a:r>
              <a:rPr sz="1450" b="1">
                <a:solidFill>
                  <a:srgbClr val="0A3D5C"/>
                </a:solidFill>
                <a:latin typeface="NanumGothic"/>
              </a:rPr>
              <a:t>대응 정도는 3단계입니다</a:t>
            </a:r>
          </a:p>
        </p:txBody>
      </p:sp>
      <p:sp>
        <p:nvSpPr>
          <p:cNvPr id="19" name="Rounded Rectangle 18"/>
          <p:cNvSpPr/>
          <p:nvPr/>
        </p:nvSpPr>
        <p:spPr>
          <a:xfrm>
            <a:off x="777240" y="3630168"/>
            <a:ext cx="5212080" cy="56692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3785616"/>
            <a:ext cx="1005840" cy="274320"/>
          </a:xfrm>
          <a:prstGeom prst="rect">
            <a:avLst/>
          </a:prstGeom>
          <a:noFill/>
        </p:spPr>
        <p:txBody>
          <a:bodyPr wrap="square" lIns="0" tIns="0" rIns="0" bIns="0" anchor="t">
            <a:spAutoFit/>
          </a:bodyPr>
          <a:lstStyle/>
          <a:p>
            <a:pPr algn="l">
              <a:lnSpc>
                <a:spcPct val="135000"/>
              </a:lnSpc>
            </a:pPr>
            <a:r>
              <a:rPr sz="1300" b="1">
                <a:solidFill>
                  <a:srgbClr val="2B8A3E"/>
                </a:solidFill>
                <a:latin typeface="NanumGothic"/>
              </a:rPr>
              <a:t>근접</a:t>
            </a:r>
          </a:p>
        </p:txBody>
      </p:sp>
      <p:sp>
        <p:nvSpPr>
          <p:cNvPr id="21" name="TextBox 20"/>
          <p:cNvSpPr txBox="1"/>
          <p:nvPr/>
        </p:nvSpPr>
        <p:spPr>
          <a:xfrm>
            <a:off x="2057400" y="3813048"/>
            <a:ext cx="3749039" cy="27432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나란히 놓고 볼 수 있다</a:t>
            </a:r>
          </a:p>
        </p:txBody>
      </p:sp>
      <p:sp>
        <p:nvSpPr>
          <p:cNvPr id="22" name="Rounded Rectangle 21"/>
          <p:cNvSpPr/>
          <p:nvPr/>
        </p:nvSpPr>
        <p:spPr>
          <a:xfrm>
            <a:off x="777240" y="4270248"/>
            <a:ext cx="5212080" cy="56692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1560" y="4425696"/>
            <a:ext cx="1005840" cy="274320"/>
          </a:xfrm>
          <a:prstGeom prst="rect">
            <a:avLst/>
          </a:prstGeom>
          <a:noFill/>
        </p:spPr>
        <p:txBody>
          <a:bodyPr wrap="square" lIns="0" tIns="0" rIns="0" bIns="0" anchor="t">
            <a:spAutoFit/>
          </a:bodyPr>
          <a:lstStyle/>
          <a:p>
            <a:pPr algn="l">
              <a:lnSpc>
                <a:spcPct val="135000"/>
              </a:lnSpc>
            </a:pPr>
            <a:r>
              <a:rPr sz="1300" b="1">
                <a:solidFill>
                  <a:srgbClr val="1C7ED6"/>
                </a:solidFill>
                <a:latin typeface="NanumGothic"/>
              </a:rPr>
              <a:t>유사</a:t>
            </a:r>
          </a:p>
        </p:txBody>
      </p:sp>
      <p:sp>
        <p:nvSpPr>
          <p:cNvPr id="24" name="TextBox 23"/>
          <p:cNvSpPr txBox="1"/>
          <p:nvPr/>
        </p:nvSpPr>
        <p:spPr>
          <a:xfrm>
            <a:off x="2057400" y="4453128"/>
            <a:ext cx="3749039" cy="27432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같은 것을 재지만 정의가 다르다</a:t>
            </a:r>
          </a:p>
        </p:txBody>
      </p:sp>
      <p:sp>
        <p:nvSpPr>
          <p:cNvPr id="25" name="Rounded Rectangle 24"/>
          <p:cNvSpPr/>
          <p:nvPr/>
        </p:nvSpPr>
        <p:spPr>
          <a:xfrm>
            <a:off x="777240" y="4910328"/>
            <a:ext cx="5212080" cy="56692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1560" y="5065776"/>
            <a:ext cx="1005840" cy="274320"/>
          </a:xfrm>
          <a:prstGeom prst="rect">
            <a:avLst/>
          </a:prstGeom>
          <a:noFill/>
        </p:spPr>
        <p:txBody>
          <a:bodyPr wrap="square" lIns="0" tIns="0" rIns="0" bIns="0" anchor="t">
            <a:spAutoFit/>
          </a:bodyPr>
          <a:lstStyle/>
          <a:p>
            <a:pPr algn="l">
              <a:lnSpc>
                <a:spcPct val="135000"/>
              </a:lnSpc>
            </a:pPr>
            <a:r>
              <a:rPr sz="1300" b="1">
                <a:solidFill>
                  <a:srgbClr val="6C757D"/>
                </a:solidFill>
                <a:latin typeface="NanumGothic"/>
              </a:rPr>
              <a:t>부분</a:t>
            </a:r>
          </a:p>
        </p:txBody>
      </p:sp>
      <p:sp>
        <p:nvSpPr>
          <p:cNvPr id="27" name="TextBox 26"/>
          <p:cNvSpPr txBox="1"/>
          <p:nvPr/>
        </p:nvSpPr>
        <p:spPr>
          <a:xfrm>
            <a:off x="2057400" y="5093208"/>
            <a:ext cx="3749039" cy="27432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UN 지표의 일부만 잰다</a:t>
            </a:r>
          </a:p>
        </p:txBody>
      </p:sp>
      <p:sp>
        <p:nvSpPr>
          <p:cNvPr id="28" name="TextBox 27"/>
          <p:cNvSpPr txBox="1"/>
          <p:nvPr/>
        </p:nvSpPr>
        <p:spPr>
          <a:xfrm>
            <a:off x="777240" y="5596128"/>
            <a:ext cx="5212080" cy="365760"/>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값을 그대로 견주면 안 되는 지점에는 따로 표시를 답니다.</a:t>
            </a:r>
          </a:p>
        </p:txBody>
      </p:sp>
      <p:sp>
        <p:nvSpPr>
          <p:cNvPr id="29" name="Rounded Rectangle 28"/>
          <p:cNvSpPr/>
          <p:nvPr/>
        </p:nvSpPr>
        <p:spPr>
          <a:xfrm>
            <a:off x="6263640" y="3200400"/>
            <a:ext cx="5120640" cy="2423160"/>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37960" y="3438144"/>
            <a:ext cx="4572000" cy="365760"/>
          </a:xfrm>
          <a:prstGeom prst="rect">
            <a:avLst/>
          </a:prstGeom>
          <a:noFill/>
        </p:spPr>
        <p:txBody>
          <a:bodyPr wrap="square" lIns="0" tIns="0" rIns="0" bIns="0" anchor="t">
            <a:spAutoFit/>
          </a:bodyPr>
          <a:lstStyle/>
          <a:p>
            <a:pPr algn="l">
              <a:lnSpc>
                <a:spcPct val="135000"/>
              </a:lnSpc>
            </a:pPr>
            <a:r>
              <a:rPr sz="1450" b="1">
                <a:solidFill>
                  <a:srgbClr val="6B5314"/>
                </a:solidFill>
                <a:latin typeface="NanumGothic"/>
              </a:rPr>
              <a:t>최상위가 「동일」이 아닌 이유</a:t>
            </a:r>
          </a:p>
        </p:txBody>
      </p:sp>
      <p:sp>
        <p:nvSpPr>
          <p:cNvPr id="31" name="TextBox 30"/>
          <p:cNvSpPr txBox="1"/>
          <p:nvPr/>
        </p:nvSpPr>
        <p:spPr>
          <a:xfrm>
            <a:off x="6537960" y="3895344"/>
            <a:ext cx="4617720" cy="1554480"/>
          </a:xfrm>
          <a:prstGeom prst="rect">
            <a:avLst/>
          </a:prstGeom>
          <a:noFill/>
        </p:spPr>
        <p:txBody>
          <a:bodyPr wrap="square" lIns="0" tIns="0" rIns="0" bIns="0" anchor="t">
            <a:spAutoFit/>
          </a:bodyPr>
          <a:lstStyle/>
          <a:p>
            <a:pPr algn="l">
              <a:lnSpc>
                <a:spcPct val="145000"/>
              </a:lnSpc>
            </a:pPr>
            <a:r>
              <a:rPr sz="1150" b="0">
                <a:solidFill>
                  <a:srgbClr val="1A1D21"/>
                </a:solidFill>
                <a:latin typeface="NanumGothic"/>
              </a:rPr>
              <a:t>K-SDGs 지표는 국내 통계·제도에 맞춰 다시 쓴 것이라</a:t>
            </a:r>
          </a:p>
          <a:p>
            <a:pPr algn="l">
              <a:lnSpc>
                <a:spcPct val="145000"/>
              </a:lnSpc>
            </a:pPr>
            <a:r>
              <a:rPr sz="1150" b="0">
                <a:solidFill>
                  <a:srgbClr val="1A1D21"/>
                </a:solidFill>
                <a:latin typeface="NanumGothic"/>
              </a:rPr>
              <a:t>집계 기준·연령 구간·분모가 어디선가 어긋납니다.</a:t>
            </a:r>
          </a:p>
          <a:p>
            <a:pPr algn="l">
              <a:lnSpc>
                <a:spcPct val="145000"/>
              </a:lnSpc>
            </a:pPr>
            <a:r>
              <a:rPr sz="1150" b="0">
                <a:solidFill>
                  <a:srgbClr val="1A1D21"/>
                </a:solidFill>
                <a:latin typeface="NanumGothic"/>
              </a:rPr>
              <a:t>정의까지 완전히 같은 지표는 없습니다.</a:t>
            </a:r>
          </a:p>
          <a:p>
            <a:pPr algn="l">
              <a:lnSpc>
                <a:spcPct val="145000"/>
              </a:lnSpc>
            </a:pPr>
            <a:r>
              <a:rPr sz="1150" b="0">
                <a:solidFill>
                  <a:srgbClr val="1A1D21"/>
                </a:solidFill>
                <a:latin typeface="NanumGothic"/>
              </a:rPr>
              <a:t>그래서 가장 가까운 대응도</a:t>
            </a:r>
          </a:p>
          <a:p>
            <a:pPr algn="l">
              <a:lnSpc>
                <a:spcPct val="145000"/>
              </a:lnSpc>
            </a:pPr>
            <a:r>
              <a:rPr sz="1150" b="0">
                <a:solidFill>
                  <a:srgbClr val="1A1D21"/>
                </a:solidFill>
                <a:latin typeface="NanumGothic"/>
              </a:rPr>
              <a:t>「나란히 놓고 볼 수 있다」까지만 말합니다.</a:t>
            </a:r>
          </a:p>
        </p:txBody>
      </p:sp>
      <p:sp>
        <p:nvSpPr>
          <p:cNvPr id="32" name="Rounded Rectangle 31"/>
          <p:cNvSpPr/>
          <p:nvPr/>
        </p:nvSpPr>
        <p:spPr>
          <a:xfrm>
            <a:off x="777240" y="6035040"/>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77240" y="6035040"/>
            <a:ext cx="50292" cy="56692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24128" y="6163055"/>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이 대응표는 정부가 공표한 공식 자료가 아니라 이 포털의 판정입니다. 화면 세 곳에 그렇게 밝혀 두었습니다.</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09</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a:solidFill>
                  <a:srgbClr val="0A3D5C"/>
                </a:solidFill>
                <a:latin typeface="NanumGothic"/>
              </a:rPr>
              <a:t>지표만으로는 답이 안 되는 질문들</a:t>
            </a: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「무엇이 이 목표를 흔드나」 · 「어떤 계획이 이 목표를 다루나」 · 「무엇으로 잴 수 있나」</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011680"/>
            <a:ext cx="3456432" cy="352044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7240" y="2011680"/>
            <a:ext cx="3456432" cy="68580"/>
          </a:xfrm>
          <a:prstGeom prst="rect">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2286000"/>
            <a:ext cx="2926080" cy="365760"/>
          </a:xfrm>
          <a:prstGeom prst="rect">
            <a:avLst/>
          </a:prstGeom>
          <a:noFill/>
        </p:spPr>
        <p:txBody>
          <a:bodyPr wrap="square" lIns="0" tIns="0" rIns="0" bIns="0" anchor="t">
            <a:spAutoFit/>
          </a:bodyPr>
          <a:lstStyle/>
          <a:p>
            <a:pPr algn="l">
              <a:lnSpc>
                <a:spcPct val="135000"/>
              </a:lnSpc>
            </a:pPr>
            <a:r>
              <a:rPr sz="1650" b="1">
                <a:solidFill>
                  <a:srgbClr val="0A3D5C"/>
                </a:solidFill>
                <a:latin typeface="NanumGothic"/>
              </a:rPr>
              <a:t>미래변화분석</a:t>
            </a:r>
          </a:p>
        </p:txBody>
      </p:sp>
      <p:sp>
        <p:nvSpPr>
          <p:cNvPr id="10" name="TextBox 9"/>
          <p:cNvSpPr txBox="1"/>
          <p:nvPr/>
        </p:nvSpPr>
        <p:spPr>
          <a:xfrm>
            <a:off x="1051560" y="2697480"/>
            <a:ext cx="2926080" cy="502920"/>
          </a:xfrm>
          <a:prstGeom prst="rect">
            <a:avLst/>
          </a:prstGeom>
          <a:noFill/>
        </p:spPr>
        <p:txBody>
          <a:bodyPr wrap="square" lIns="0" tIns="0" rIns="0" bIns="0" anchor="t">
            <a:spAutoFit/>
          </a:bodyPr>
          <a:lstStyle/>
          <a:p>
            <a:pPr algn="l">
              <a:lnSpc>
                <a:spcPct val="135000"/>
              </a:lnSpc>
            </a:pPr>
            <a:r>
              <a:rPr sz="2100" b="1">
                <a:solidFill>
                  <a:srgbClr val="9333EA"/>
                </a:solidFill>
                <a:latin typeface="NanumGothic"/>
              </a:rPr>
              <a:t>무엇이 흔드나</a:t>
            </a:r>
          </a:p>
        </p:txBody>
      </p:sp>
      <p:sp>
        <p:nvSpPr>
          <p:cNvPr id="11" name="TextBox 10"/>
          <p:cNvSpPr txBox="1"/>
          <p:nvPr/>
        </p:nvSpPr>
        <p:spPr>
          <a:xfrm>
            <a:off x="1051560" y="3337560"/>
            <a:ext cx="2926080" cy="731520"/>
          </a:xfrm>
          <a:prstGeom prst="rect">
            <a:avLst/>
          </a:prstGeom>
          <a:noFill/>
        </p:spPr>
        <p:txBody>
          <a:bodyPr wrap="square" lIns="0" tIns="0" rIns="0" bIns="0" anchor="t">
            <a:spAutoFit/>
          </a:bodyPr>
          <a:lstStyle/>
          <a:p>
            <a:pPr algn="l">
              <a:lnSpc>
                <a:spcPct val="140000"/>
              </a:lnSpc>
            </a:pPr>
            <a:r>
              <a:rPr sz="1150" b="0">
                <a:solidFill>
                  <a:srgbClr val="1A1D21"/>
                </a:solidFill>
                <a:latin typeface="NanumGothic"/>
              </a:rPr>
              <a:t>인구·기후 같은 변화가 어느 목표를 흔드는지 칸 색으로 봅니다.</a:t>
            </a:r>
          </a:p>
        </p:txBody>
      </p:sp>
      <p:sp>
        <p:nvSpPr>
          <p:cNvPr id="12" name="Oval 11"/>
          <p:cNvSpPr/>
          <p:nvPr/>
        </p:nvSpPr>
        <p:spPr>
          <a:xfrm>
            <a:off x="1069848" y="4425696"/>
            <a:ext cx="91440" cy="91440"/>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4343400"/>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시나리오와 목표를 이어 매트릭스로</a:t>
            </a:r>
          </a:p>
        </p:txBody>
      </p:sp>
      <p:sp>
        <p:nvSpPr>
          <p:cNvPr id="14" name="Oval 13"/>
          <p:cNvSpPr/>
          <p:nvPr/>
        </p:nvSpPr>
        <p:spPr>
          <a:xfrm>
            <a:off x="1069848" y="4809744"/>
            <a:ext cx="91440" cy="91440"/>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4727448"/>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연결마다 근거 문장이 붙습니다</a:t>
            </a:r>
          </a:p>
        </p:txBody>
      </p:sp>
      <p:sp>
        <p:nvSpPr>
          <p:cNvPr id="16" name="Oval 15"/>
          <p:cNvSpPr/>
          <p:nvPr/>
        </p:nvSpPr>
        <p:spPr>
          <a:xfrm>
            <a:off x="1069848" y="5193792"/>
            <a:ext cx="91440" cy="91440"/>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0160" y="5111496"/>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영향 세기의 기준을 화면에 밝혔습니다</a:t>
            </a:r>
          </a:p>
        </p:txBody>
      </p:sp>
      <p:sp>
        <p:nvSpPr>
          <p:cNvPr id="18" name="Rounded Rectangle 17"/>
          <p:cNvSpPr/>
          <p:nvPr/>
        </p:nvSpPr>
        <p:spPr>
          <a:xfrm>
            <a:off x="4379976" y="2011680"/>
            <a:ext cx="3456432" cy="352044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379976" y="2011680"/>
            <a:ext cx="3456432" cy="68580"/>
          </a:xfrm>
          <a:prstGeom prst="rect">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54296" y="2286000"/>
            <a:ext cx="2926080" cy="365760"/>
          </a:xfrm>
          <a:prstGeom prst="rect">
            <a:avLst/>
          </a:prstGeom>
          <a:noFill/>
        </p:spPr>
        <p:txBody>
          <a:bodyPr wrap="square" lIns="0" tIns="0" rIns="0" bIns="0" anchor="t">
            <a:spAutoFit/>
          </a:bodyPr>
          <a:lstStyle/>
          <a:p>
            <a:pPr algn="l">
              <a:lnSpc>
                <a:spcPct val="135000"/>
              </a:lnSpc>
            </a:pPr>
            <a:r>
              <a:rPr sz="1650" b="1">
                <a:solidFill>
                  <a:srgbClr val="0A3D5C"/>
                </a:solidFill>
                <a:latin typeface="NanumGothic"/>
              </a:rPr>
              <a:t>중ㆍ장기 행정계획</a:t>
            </a:r>
          </a:p>
        </p:txBody>
      </p:sp>
      <p:sp>
        <p:nvSpPr>
          <p:cNvPr id="21" name="TextBox 20"/>
          <p:cNvSpPr txBox="1"/>
          <p:nvPr/>
        </p:nvSpPr>
        <p:spPr>
          <a:xfrm>
            <a:off x="4654296" y="2697480"/>
            <a:ext cx="2926080" cy="502920"/>
          </a:xfrm>
          <a:prstGeom prst="rect">
            <a:avLst/>
          </a:prstGeom>
          <a:noFill/>
        </p:spPr>
        <p:txBody>
          <a:bodyPr wrap="square" lIns="0" tIns="0" rIns="0" bIns="0" anchor="t">
            <a:spAutoFit/>
          </a:bodyPr>
          <a:lstStyle/>
          <a:p>
            <a:pPr algn="l">
              <a:lnSpc>
                <a:spcPct val="135000"/>
              </a:lnSpc>
            </a:pPr>
            <a:r>
              <a:rPr sz="2100" b="1">
                <a:solidFill>
                  <a:srgbClr val="00689D"/>
                </a:solidFill>
                <a:latin typeface="NanumGothic"/>
              </a:rPr>
              <a:t>누가 다루나</a:t>
            </a:r>
          </a:p>
        </p:txBody>
      </p:sp>
      <p:sp>
        <p:nvSpPr>
          <p:cNvPr id="22" name="TextBox 21"/>
          <p:cNvSpPr txBox="1"/>
          <p:nvPr/>
        </p:nvSpPr>
        <p:spPr>
          <a:xfrm>
            <a:off x="4654296" y="3337560"/>
            <a:ext cx="2926080" cy="731520"/>
          </a:xfrm>
          <a:prstGeom prst="rect">
            <a:avLst/>
          </a:prstGeom>
          <a:noFill/>
        </p:spPr>
        <p:txBody>
          <a:bodyPr wrap="square" lIns="0" tIns="0" rIns="0" bIns="0" anchor="t">
            <a:spAutoFit/>
          </a:bodyPr>
          <a:lstStyle/>
          <a:p>
            <a:pPr algn="l">
              <a:lnSpc>
                <a:spcPct val="140000"/>
              </a:lnSpc>
            </a:pPr>
            <a:r>
              <a:rPr sz="1150" b="0">
                <a:solidFill>
                  <a:srgbClr val="1A1D21"/>
                </a:solidFill>
                <a:latin typeface="NanumGothic"/>
              </a:rPr>
              <a:t>지속가능발전 기본전략과 조화를 검토받는 계획 목록입니다.</a:t>
            </a:r>
          </a:p>
        </p:txBody>
      </p:sp>
      <p:sp>
        <p:nvSpPr>
          <p:cNvPr id="23" name="Oval 22"/>
          <p:cNvSpPr/>
          <p:nvPr/>
        </p:nvSpPr>
        <p:spPr>
          <a:xfrm>
            <a:off x="4672584" y="4425696"/>
            <a:ext cx="91440" cy="91440"/>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82896" y="4343400"/>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원문 PDF를 함께 내려받기</a:t>
            </a:r>
          </a:p>
        </p:txBody>
      </p:sp>
      <p:sp>
        <p:nvSpPr>
          <p:cNvPr id="25" name="Oval 24"/>
          <p:cNvSpPr/>
          <p:nvPr/>
        </p:nvSpPr>
        <p:spPr>
          <a:xfrm>
            <a:off x="4672584" y="4809744"/>
            <a:ext cx="91440" cy="91440"/>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82896" y="4727448"/>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첨부가 원문인지 전수 대조</a:t>
            </a:r>
          </a:p>
        </p:txBody>
      </p:sp>
      <p:sp>
        <p:nvSpPr>
          <p:cNvPr id="27" name="Oval 26"/>
          <p:cNvSpPr/>
          <p:nvPr/>
        </p:nvSpPr>
        <p:spPr>
          <a:xfrm>
            <a:off x="4672584" y="5193792"/>
            <a:ext cx="91440" cy="91440"/>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882896" y="5111496"/>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차수별로 여러 파일 보관</a:t>
            </a:r>
          </a:p>
        </p:txBody>
      </p:sp>
      <p:sp>
        <p:nvSpPr>
          <p:cNvPr id="29" name="Rounded Rectangle 28"/>
          <p:cNvSpPr/>
          <p:nvPr/>
        </p:nvSpPr>
        <p:spPr>
          <a:xfrm>
            <a:off x="7982712" y="2011680"/>
            <a:ext cx="3456432" cy="3520440"/>
          </a:xfrm>
          <a:prstGeom prst="roundRect">
            <a:avLst>
              <a:gd name="adj" fmla="val 6000"/>
            </a:avLst>
          </a:prstGeom>
          <a:solidFill>
            <a:srgbClr val="FFFFFF"/>
          </a:solidFill>
          <a:ln w="1587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7982712" y="2011680"/>
            <a:ext cx="3456432" cy="6858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57032" y="2286000"/>
            <a:ext cx="2926080" cy="365760"/>
          </a:xfrm>
          <a:prstGeom prst="rect">
            <a:avLst/>
          </a:prstGeom>
          <a:noFill/>
        </p:spPr>
        <p:txBody>
          <a:bodyPr wrap="square" lIns="0" tIns="0" rIns="0" bIns="0" anchor="t">
            <a:spAutoFit/>
          </a:bodyPr>
          <a:lstStyle/>
          <a:p>
            <a:pPr algn="l">
              <a:lnSpc>
                <a:spcPct val="135000"/>
              </a:lnSpc>
            </a:pPr>
            <a:r>
              <a:rPr sz="1650" b="1">
                <a:solidFill>
                  <a:srgbClr val="0A3D5C"/>
                </a:solidFill>
                <a:latin typeface="NanumGothic"/>
              </a:rPr>
              <a:t>데이터맵</a:t>
            </a:r>
          </a:p>
        </p:txBody>
      </p:sp>
      <p:sp>
        <p:nvSpPr>
          <p:cNvPr id="32" name="TextBox 31"/>
          <p:cNvSpPr txBox="1"/>
          <p:nvPr/>
        </p:nvSpPr>
        <p:spPr>
          <a:xfrm>
            <a:off x="8257032" y="2697480"/>
            <a:ext cx="2926080" cy="502920"/>
          </a:xfrm>
          <a:prstGeom prst="rect">
            <a:avLst/>
          </a:prstGeom>
          <a:noFill/>
        </p:spPr>
        <p:txBody>
          <a:bodyPr wrap="square" lIns="0" tIns="0" rIns="0" bIns="0" anchor="t">
            <a:spAutoFit/>
          </a:bodyPr>
          <a:lstStyle/>
          <a:p>
            <a:pPr algn="l">
              <a:lnSpc>
                <a:spcPct val="135000"/>
              </a:lnSpc>
            </a:pPr>
            <a:r>
              <a:rPr sz="2100" b="1">
                <a:solidFill>
                  <a:srgbClr val="2B8A3E"/>
                </a:solidFill>
                <a:latin typeface="NanumGothic"/>
              </a:rPr>
              <a:t>무엇으로 재나</a:t>
            </a:r>
          </a:p>
        </p:txBody>
      </p:sp>
      <p:sp>
        <p:nvSpPr>
          <p:cNvPr id="33" name="TextBox 32"/>
          <p:cNvSpPr txBox="1"/>
          <p:nvPr/>
        </p:nvSpPr>
        <p:spPr>
          <a:xfrm>
            <a:off x="8257032" y="3337560"/>
            <a:ext cx="2926080" cy="731520"/>
          </a:xfrm>
          <a:prstGeom prst="rect">
            <a:avLst/>
          </a:prstGeom>
          <a:noFill/>
        </p:spPr>
        <p:txBody>
          <a:bodyPr wrap="square" lIns="0" tIns="0" rIns="0" bIns="0" anchor="t">
            <a:spAutoFit/>
          </a:bodyPr>
          <a:lstStyle/>
          <a:p>
            <a:pPr algn="l">
              <a:lnSpc>
                <a:spcPct val="140000"/>
              </a:lnSpc>
            </a:pPr>
            <a:r>
              <a:rPr sz="1150" b="0">
                <a:solidFill>
                  <a:srgbClr val="1A1D21"/>
                </a:solidFill>
                <a:latin typeface="NanumGothic"/>
              </a:rPr>
              <a:t>지표 하나를 어떤 통계로 잴 수 있는지 이어 놓은 지도입니다.</a:t>
            </a:r>
          </a:p>
        </p:txBody>
      </p:sp>
      <p:sp>
        <p:nvSpPr>
          <p:cNvPr id="34" name="Oval 33"/>
          <p:cNvSpPr/>
          <p:nvPr/>
        </p:nvSpPr>
        <p:spPr>
          <a:xfrm>
            <a:off x="8275320" y="4425696"/>
            <a:ext cx="91440" cy="91440"/>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85632" y="4343400"/>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UN 대응 → 연관 통계 순으로</a:t>
            </a:r>
          </a:p>
        </p:txBody>
      </p:sp>
      <p:sp>
        <p:nvSpPr>
          <p:cNvPr id="36" name="Oval 35"/>
          <p:cNvSpPr/>
          <p:nvPr/>
        </p:nvSpPr>
        <p:spPr>
          <a:xfrm>
            <a:off x="8275320" y="4809744"/>
            <a:ext cx="91440" cy="91440"/>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85632" y="4727448"/>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기계가 이은 연결은 그렇다고 표시</a:t>
            </a:r>
          </a:p>
        </p:txBody>
      </p:sp>
      <p:sp>
        <p:nvSpPr>
          <p:cNvPr id="38" name="Oval 37"/>
          <p:cNvSpPr/>
          <p:nvPr/>
        </p:nvSpPr>
        <p:spPr>
          <a:xfrm>
            <a:off x="8275320" y="5193792"/>
            <a:ext cx="91440" cy="91440"/>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85632" y="5111496"/>
            <a:ext cx="2697480" cy="457200"/>
          </a:xfrm>
          <a:prstGeom prst="rect">
            <a:avLst/>
          </a:prstGeom>
          <a:noFill/>
        </p:spPr>
        <p:txBody>
          <a:bodyPr wrap="square" lIns="0" tIns="0" rIns="0" bIns="0" anchor="t">
            <a:spAutoFit/>
          </a:bodyPr>
          <a:lstStyle/>
          <a:p>
            <a:pPr algn="l">
              <a:lnSpc>
                <a:spcPct val="130000"/>
              </a:lnSpc>
            </a:pPr>
            <a:r>
              <a:rPr sz="1050" b="0">
                <a:solidFill>
                  <a:srgbClr val="6C757D"/>
                </a:solidFill>
                <a:latin typeface="NanumGothic"/>
              </a:rPr>
              <a:t>사람이 확인하면 표시를 뗍니다</a:t>
            </a:r>
          </a:p>
        </p:txBody>
      </p:sp>
      <p:sp>
        <p:nvSpPr>
          <p:cNvPr id="40" name="Rounded Rectangle 39"/>
          <p:cNvSpPr/>
          <p:nvPr/>
        </p:nvSpPr>
        <p:spPr>
          <a:xfrm>
            <a:off x="777240" y="5806440"/>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777240" y="5806440"/>
            <a:ext cx="50292" cy="56692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24128" y="5934455"/>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이 세 가지의 연결과 판단은 이 포털이 해석한 것이며, 아직 소관 부서 검수를 거치지 않았습니다.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10</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a:solidFill>
                  <a:srgbClr val="0A3D5C"/>
                </a:solidFill>
                <a:latin typeface="NanumGothic"/>
              </a:rPr>
              <a:t>고치는 사람이 있어야 살아 있는 데이터입니다</a:t>
            </a: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스크립트로 한 번 만들고 끝나는 자료가 아니라, 화면에서 계속 손볼 수 있게 했습니다.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011680"/>
            <a:ext cx="5852160" cy="74980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157984"/>
            <a:ext cx="2743200" cy="274320"/>
          </a:xfrm>
          <a:prstGeom prst="rect">
            <a:avLst/>
          </a:prstGeom>
          <a:noFill/>
        </p:spPr>
        <p:txBody>
          <a:bodyPr wrap="square" lIns="0" tIns="0" rIns="0" bIns="0" anchor="t">
            <a:spAutoFit/>
          </a:bodyPr>
          <a:lstStyle/>
          <a:p>
            <a:pPr algn="l">
              <a:lnSpc>
                <a:spcPct val="135000"/>
              </a:lnSpc>
            </a:pPr>
            <a:r>
              <a:rPr sz="1300" b="1">
                <a:solidFill>
                  <a:srgbClr val="0A3D5C"/>
                </a:solidFill>
                <a:latin typeface="NanumGothic"/>
              </a:rPr>
              <a:t>지표 · 목표 체계</a:t>
            </a:r>
          </a:p>
        </p:txBody>
      </p:sp>
      <p:sp>
        <p:nvSpPr>
          <p:cNvPr id="9" name="TextBox 8"/>
          <p:cNvSpPr txBox="1"/>
          <p:nvPr/>
        </p:nvSpPr>
        <p:spPr>
          <a:xfrm>
            <a:off x="1051560" y="2450592"/>
            <a:ext cx="5394960" cy="256032"/>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값 · 목표 · 소관부처 · 공개 여부</a:t>
            </a:r>
          </a:p>
        </p:txBody>
      </p:sp>
      <p:sp>
        <p:nvSpPr>
          <p:cNvPr id="10" name="Rounded Rectangle 9"/>
          <p:cNvSpPr/>
          <p:nvPr/>
        </p:nvSpPr>
        <p:spPr>
          <a:xfrm>
            <a:off x="777240" y="2880360"/>
            <a:ext cx="5852160" cy="74980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3026664"/>
            <a:ext cx="2743200" cy="274320"/>
          </a:xfrm>
          <a:prstGeom prst="rect">
            <a:avLst/>
          </a:prstGeom>
          <a:noFill/>
        </p:spPr>
        <p:txBody>
          <a:bodyPr wrap="square" lIns="0" tIns="0" rIns="0" bIns="0" anchor="t">
            <a:spAutoFit/>
          </a:bodyPr>
          <a:lstStyle/>
          <a:p>
            <a:pPr algn="l">
              <a:lnSpc>
                <a:spcPct val="135000"/>
              </a:lnSpc>
            </a:pPr>
            <a:r>
              <a:rPr sz="1300" b="1">
                <a:solidFill>
                  <a:srgbClr val="0A3D5C"/>
                </a:solidFill>
                <a:latin typeface="NanumGothic"/>
              </a:rPr>
              <a:t>UN 대응 · 연관 통계</a:t>
            </a:r>
          </a:p>
        </p:txBody>
      </p:sp>
      <p:sp>
        <p:nvSpPr>
          <p:cNvPr id="12" name="TextBox 11"/>
          <p:cNvSpPr txBox="1"/>
          <p:nvPr/>
        </p:nvSpPr>
        <p:spPr>
          <a:xfrm>
            <a:off x="1051560" y="3319272"/>
            <a:ext cx="5394960" cy="256032"/>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등급 · 근거 문장 · 비교 주의 · 검수 표시</a:t>
            </a:r>
          </a:p>
        </p:txBody>
      </p:sp>
      <p:sp>
        <p:nvSpPr>
          <p:cNvPr id="13" name="Rounded Rectangle 12"/>
          <p:cNvSpPr/>
          <p:nvPr/>
        </p:nvSpPr>
        <p:spPr>
          <a:xfrm>
            <a:off x="777240" y="3749040"/>
            <a:ext cx="5852160" cy="74980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895344"/>
            <a:ext cx="2743200" cy="274320"/>
          </a:xfrm>
          <a:prstGeom prst="rect">
            <a:avLst/>
          </a:prstGeom>
          <a:noFill/>
        </p:spPr>
        <p:txBody>
          <a:bodyPr wrap="square" lIns="0" tIns="0" rIns="0" bIns="0" anchor="t">
            <a:spAutoFit/>
          </a:bodyPr>
          <a:lstStyle/>
          <a:p>
            <a:pPr algn="l">
              <a:lnSpc>
                <a:spcPct val="135000"/>
              </a:lnSpc>
            </a:pPr>
            <a:r>
              <a:rPr sz="1300" b="1">
                <a:solidFill>
                  <a:srgbClr val="0A3D5C"/>
                </a:solidFill>
                <a:latin typeface="NanumGothic"/>
              </a:rPr>
              <a:t>행정계획</a:t>
            </a:r>
          </a:p>
        </p:txBody>
      </p:sp>
      <p:sp>
        <p:nvSpPr>
          <p:cNvPr id="15" name="TextBox 14"/>
          <p:cNvSpPr txBox="1"/>
          <p:nvPr/>
        </p:nvSpPr>
        <p:spPr>
          <a:xfrm>
            <a:off x="1051560" y="4187952"/>
            <a:ext cx="5394960" cy="256032"/>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신뢰도 · 원문 파일 여러 개 · 파일별 공개 여부</a:t>
            </a:r>
          </a:p>
        </p:txBody>
      </p:sp>
      <p:sp>
        <p:nvSpPr>
          <p:cNvPr id="16" name="Rounded Rectangle 15"/>
          <p:cNvSpPr/>
          <p:nvPr/>
        </p:nvSpPr>
        <p:spPr>
          <a:xfrm>
            <a:off x="777240" y="4617720"/>
            <a:ext cx="5852160" cy="749808"/>
          </a:xfrm>
          <a:prstGeom prst="roundRect">
            <a:avLst>
              <a:gd name="adj" fmla="val 6000"/>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764024"/>
            <a:ext cx="2743200" cy="274320"/>
          </a:xfrm>
          <a:prstGeom prst="rect">
            <a:avLst/>
          </a:prstGeom>
          <a:noFill/>
        </p:spPr>
        <p:txBody>
          <a:bodyPr wrap="square" lIns="0" tIns="0" rIns="0" bIns="0" anchor="t">
            <a:spAutoFit/>
          </a:bodyPr>
          <a:lstStyle/>
          <a:p>
            <a:pPr algn="l">
              <a:lnSpc>
                <a:spcPct val="135000"/>
              </a:lnSpc>
            </a:pPr>
            <a:r>
              <a:rPr sz="1300" b="1">
                <a:solidFill>
                  <a:srgbClr val="0A3D5C"/>
                </a:solidFill>
                <a:latin typeface="NanumGothic"/>
              </a:rPr>
              <a:t>사이트 설정 · 상단 메뉴</a:t>
            </a:r>
          </a:p>
        </p:txBody>
      </p:sp>
      <p:sp>
        <p:nvSpPr>
          <p:cNvPr id="18" name="TextBox 17"/>
          <p:cNvSpPr txBox="1"/>
          <p:nvPr/>
        </p:nvSpPr>
        <p:spPr>
          <a:xfrm>
            <a:off x="1051560" y="5056632"/>
            <a:ext cx="5394960" cy="256032"/>
          </a:xfrm>
          <a:prstGeom prst="rect">
            <a:avLst/>
          </a:prstGeom>
          <a:noFill/>
        </p:spPr>
        <p:txBody>
          <a:bodyPr wrap="square" lIns="0" tIns="0" rIns="0" bIns="0" anchor="t">
            <a:spAutoFit/>
          </a:bodyPr>
          <a:lstStyle/>
          <a:p>
            <a:pPr algn="l">
              <a:lnSpc>
                <a:spcPct val="135000"/>
              </a:lnSpc>
            </a:pPr>
            <a:r>
              <a:rPr sz="1050" b="0">
                <a:solidFill>
                  <a:srgbClr val="6C757D"/>
                </a:solidFill>
                <a:latin typeface="NanumGothic"/>
              </a:rPr>
              <a:t>제목 · 안내문 · 메뉴 노출과 순서</a:t>
            </a:r>
          </a:p>
        </p:txBody>
      </p:sp>
      <p:sp>
        <p:nvSpPr>
          <p:cNvPr id="19" name="Rounded Rectangle 18"/>
          <p:cNvSpPr/>
          <p:nvPr/>
        </p:nvSpPr>
        <p:spPr>
          <a:xfrm>
            <a:off x="6858000" y="2011680"/>
            <a:ext cx="4526280" cy="3310128"/>
          </a:xfrm>
          <a:prstGeom prst="roundRect">
            <a:avLst>
              <a:gd name="adj" fmla="val 6000"/>
            </a:avLst>
          </a:prstGeom>
          <a:solidFill>
            <a:srgbClr val="EC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78040" y="2267712"/>
            <a:ext cx="3931920" cy="365760"/>
          </a:xfrm>
          <a:prstGeom prst="rect">
            <a:avLst/>
          </a:prstGeom>
          <a:noFill/>
        </p:spPr>
        <p:txBody>
          <a:bodyPr wrap="square" lIns="0" tIns="0" rIns="0" bIns="0" anchor="t">
            <a:spAutoFit/>
          </a:bodyPr>
          <a:lstStyle/>
          <a:p>
            <a:pPr algn="l">
              <a:lnSpc>
                <a:spcPct val="135000"/>
              </a:lnSpc>
            </a:pPr>
            <a:r>
              <a:rPr sz="1500" b="1">
                <a:solidFill>
                  <a:srgbClr val="0A3D5C"/>
                </a:solidFill>
                <a:latin typeface="NanumGothic"/>
              </a:rPr>
              <a:t>고칠 때 지키는 것</a:t>
            </a:r>
          </a:p>
        </p:txBody>
      </p:sp>
      <p:sp>
        <p:nvSpPr>
          <p:cNvPr id="21" name="Oval 20"/>
          <p:cNvSpPr/>
          <p:nvPr/>
        </p:nvSpPr>
        <p:spPr>
          <a:xfrm>
            <a:off x="7178040" y="2834639"/>
            <a:ext cx="155448" cy="155448"/>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52360" y="2770632"/>
            <a:ext cx="3749039" cy="274320"/>
          </a:xfrm>
          <a:prstGeom prst="rect">
            <a:avLst/>
          </a:prstGeom>
          <a:noFill/>
        </p:spPr>
        <p:txBody>
          <a:bodyPr wrap="square" lIns="0" tIns="0" rIns="0" bIns="0" anchor="t">
            <a:spAutoFit/>
          </a:bodyPr>
          <a:lstStyle/>
          <a:p>
            <a:pPr algn="l">
              <a:lnSpc>
                <a:spcPct val="135000"/>
              </a:lnSpc>
            </a:pPr>
            <a:r>
              <a:rPr sz="1150" b="1">
                <a:solidFill>
                  <a:srgbClr val="1A1D21"/>
                </a:solidFill>
                <a:latin typeface="NanumGothic"/>
              </a:rPr>
              <a:t>모든 변경은 이력에 남습니다</a:t>
            </a:r>
          </a:p>
        </p:txBody>
      </p:sp>
      <p:sp>
        <p:nvSpPr>
          <p:cNvPr id="23" name="TextBox 22"/>
          <p:cNvSpPr txBox="1"/>
          <p:nvPr/>
        </p:nvSpPr>
        <p:spPr>
          <a:xfrm>
            <a:off x="7452360" y="3026663"/>
            <a:ext cx="3749039" cy="256032"/>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누가 언제 무엇을 바꿨는지</a:t>
            </a:r>
          </a:p>
        </p:txBody>
      </p:sp>
      <p:sp>
        <p:nvSpPr>
          <p:cNvPr id="24" name="Oval 23"/>
          <p:cNvSpPr/>
          <p:nvPr/>
        </p:nvSpPr>
        <p:spPr>
          <a:xfrm>
            <a:off x="7178040" y="3456432"/>
            <a:ext cx="155448" cy="155448"/>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52360" y="3392424"/>
            <a:ext cx="3749039" cy="274320"/>
          </a:xfrm>
          <a:prstGeom prst="rect">
            <a:avLst/>
          </a:prstGeom>
          <a:noFill/>
        </p:spPr>
        <p:txBody>
          <a:bodyPr wrap="square" lIns="0" tIns="0" rIns="0" bIns="0" anchor="t">
            <a:spAutoFit/>
          </a:bodyPr>
          <a:lstStyle/>
          <a:p>
            <a:pPr algn="l">
              <a:lnSpc>
                <a:spcPct val="135000"/>
              </a:lnSpc>
            </a:pPr>
            <a:r>
              <a:rPr sz="1150" b="1">
                <a:solidFill>
                  <a:srgbClr val="1A1D21"/>
                </a:solidFill>
                <a:latin typeface="NanumGothic"/>
              </a:rPr>
              <a:t>근거 없는 연결은 저장되지 않습니다</a:t>
            </a:r>
          </a:p>
        </p:txBody>
      </p:sp>
      <p:sp>
        <p:nvSpPr>
          <p:cNvPr id="26" name="TextBox 25"/>
          <p:cNvSpPr txBox="1"/>
          <p:nvPr/>
        </p:nvSpPr>
        <p:spPr>
          <a:xfrm>
            <a:off x="7452360" y="3648456"/>
            <a:ext cx="3749039" cy="256032"/>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근거 문장 없이는 거부</a:t>
            </a:r>
          </a:p>
        </p:txBody>
      </p:sp>
      <p:sp>
        <p:nvSpPr>
          <p:cNvPr id="27" name="Oval 26"/>
          <p:cNvSpPr/>
          <p:nvPr/>
        </p:nvSpPr>
        <p:spPr>
          <a:xfrm>
            <a:off x="7178040" y="4078224"/>
            <a:ext cx="155448" cy="155448"/>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52360" y="4014216"/>
            <a:ext cx="3749039" cy="274320"/>
          </a:xfrm>
          <a:prstGeom prst="rect">
            <a:avLst/>
          </a:prstGeom>
          <a:noFill/>
        </p:spPr>
        <p:txBody>
          <a:bodyPr wrap="square" lIns="0" tIns="0" rIns="0" bIns="0" anchor="t">
            <a:spAutoFit/>
          </a:bodyPr>
          <a:lstStyle/>
          <a:p>
            <a:pPr algn="l">
              <a:lnSpc>
                <a:spcPct val="135000"/>
              </a:lnSpc>
            </a:pPr>
            <a:r>
              <a:rPr sz="1150" b="1">
                <a:solidFill>
                  <a:srgbClr val="1A1D21"/>
                </a:solidFill>
                <a:latin typeface="NanumGothic"/>
              </a:rPr>
              <a:t>검수 전인 것은 그렇게 표시합니다</a:t>
            </a:r>
          </a:p>
        </p:txBody>
      </p:sp>
      <p:sp>
        <p:nvSpPr>
          <p:cNvPr id="29" name="TextBox 28"/>
          <p:cNvSpPr txBox="1"/>
          <p:nvPr/>
        </p:nvSpPr>
        <p:spPr>
          <a:xfrm>
            <a:off x="7452360" y="4270248"/>
            <a:ext cx="3749039" cy="256032"/>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「자동」 표시를 사람이 뗍니다</a:t>
            </a:r>
          </a:p>
        </p:txBody>
      </p:sp>
      <p:sp>
        <p:nvSpPr>
          <p:cNvPr id="30" name="Oval 29"/>
          <p:cNvSpPr/>
          <p:nvPr/>
        </p:nvSpPr>
        <p:spPr>
          <a:xfrm>
            <a:off x="7178040" y="4700016"/>
            <a:ext cx="155448" cy="155448"/>
          </a:xfrm>
          <a:prstGeom prst="ellipse">
            <a:avLst/>
          </a:prstGeom>
          <a:solidFill>
            <a:srgbClr val="0068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452360" y="4636008"/>
            <a:ext cx="3749039" cy="274320"/>
          </a:xfrm>
          <a:prstGeom prst="rect">
            <a:avLst/>
          </a:prstGeom>
          <a:noFill/>
        </p:spPr>
        <p:txBody>
          <a:bodyPr wrap="square" lIns="0" tIns="0" rIns="0" bIns="0" anchor="t">
            <a:spAutoFit/>
          </a:bodyPr>
          <a:lstStyle/>
          <a:p>
            <a:pPr algn="l">
              <a:lnSpc>
                <a:spcPct val="135000"/>
              </a:lnSpc>
            </a:pPr>
            <a:r>
              <a:rPr sz="1150" b="1">
                <a:solidFill>
                  <a:srgbClr val="1A1D21"/>
                </a:solidFill>
                <a:latin typeface="NanumGothic"/>
              </a:rPr>
              <a:t>사람의 판정이 기계 판정을 이깁니다</a:t>
            </a:r>
          </a:p>
        </p:txBody>
      </p:sp>
      <p:sp>
        <p:nvSpPr>
          <p:cNvPr id="32" name="TextBox 31"/>
          <p:cNvSpPr txBox="1"/>
          <p:nvPr/>
        </p:nvSpPr>
        <p:spPr>
          <a:xfrm>
            <a:off x="7452360" y="4892040"/>
            <a:ext cx="3749039" cy="256032"/>
          </a:xfrm>
          <a:prstGeom prst="rect">
            <a:avLst/>
          </a:prstGeom>
          <a:noFill/>
        </p:spPr>
        <p:txBody>
          <a:bodyPr wrap="square" lIns="0" tIns="0" rIns="0" bIns="0" anchor="t">
            <a:spAutoFit/>
          </a:bodyPr>
          <a:lstStyle/>
          <a:p>
            <a:pPr algn="l">
              <a:lnSpc>
                <a:spcPct val="135000"/>
              </a:lnSpc>
            </a:pPr>
            <a:r>
              <a:rPr sz="1000" b="0">
                <a:solidFill>
                  <a:srgbClr val="6C757D"/>
                </a:solidFill>
                <a:latin typeface="NanumGothic"/>
              </a:rPr>
              <a:t>재실행해도 지워지지 않게</a:t>
            </a:r>
          </a:p>
        </p:txBody>
      </p:sp>
      <p:sp>
        <p:nvSpPr>
          <p:cNvPr id="33" name="Rounded Rectangle 32"/>
          <p:cNvSpPr/>
          <p:nvPr/>
        </p:nvSpPr>
        <p:spPr>
          <a:xfrm>
            <a:off x="777240" y="5669280"/>
            <a:ext cx="10637215" cy="566928"/>
          </a:xfrm>
          <a:prstGeom prst="roundRect">
            <a:avLst>
              <a:gd name="adj" fmla="val 6000"/>
            </a:avLst>
          </a:prstGeom>
          <a:solidFill>
            <a:srgbClr val="FDF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77240" y="5669280"/>
            <a:ext cx="50292" cy="566928"/>
          </a:xfrm>
          <a:prstGeom prst="rect">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4128" y="5797296"/>
            <a:ext cx="10180015" cy="365760"/>
          </a:xfrm>
          <a:prstGeom prst="rect">
            <a:avLst/>
          </a:prstGeom>
          <a:noFill/>
        </p:spPr>
        <p:txBody>
          <a:bodyPr wrap="square" lIns="0" tIns="0" rIns="0" bIns="0" anchor="ctr">
            <a:spAutoFit/>
          </a:bodyPr>
          <a:lstStyle/>
          <a:p>
            <a:pPr algn="l">
              <a:lnSpc>
                <a:spcPct val="135000"/>
              </a:lnSpc>
            </a:pPr>
            <a:r>
              <a:rPr sz="1150" b="0">
                <a:solidFill>
                  <a:srgbClr val="6B5314"/>
                </a:solidFill>
                <a:latin typeface="NanumGothic"/>
              </a:rPr>
              <a:t>관리자 화면에서 고친 것은 DB에만 남습니다. 오래 남길 판단은 CSV로 받아 원본에도 함께 반영합니다.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566928"/>
            <a:ext cx="914400" cy="365760"/>
          </a:xfrm>
          <a:prstGeom prst="rect">
            <a:avLst/>
          </a:prstGeom>
          <a:noFill/>
        </p:spPr>
        <p:txBody>
          <a:bodyPr wrap="square" lIns="0" tIns="0" rIns="0" bIns="0" anchor="t">
            <a:spAutoFit/>
          </a:bodyPr>
          <a:lstStyle/>
          <a:p>
            <a:pPr algn="l">
              <a:lnSpc>
                <a:spcPct val="135000"/>
              </a:lnSpc>
            </a:pPr>
            <a:r>
              <a:rPr sz="1500" b="1">
                <a:solidFill>
                  <a:srgbClr val="00689D"/>
                </a:solidFill>
                <a:latin typeface="NanumGothic"/>
              </a:rPr>
              <a:t>11</a:t>
            </a:r>
          </a:p>
        </p:txBody>
      </p:sp>
      <p:sp>
        <p:nvSpPr>
          <p:cNvPr id="4" name="TextBox 3"/>
          <p:cNvSpPr txBox="1"/>
          <p:nvPr/>
        </p:nvSpPr>
        <p:spPr>
          <a:xfrm>
            <a:off x="1371600" y="502920"/>
            <a:ext cx="9966960" cy="548640"/>
          </a:xfrm>
          <a:prstGeom prst="rect">
            <a:avLst/>
          </a:prstGeom>
          <a:noFill/>
        </p:spPr>
        <p:txBody>
          <a:bodyPr wrap="square" lIns="0" tIns="0" rIns="0" bIns="0" anchor="t">
            <a:spAutoFit/>
          </a:bodyPr>
          <a:lstStyle/>
          <a:p>
            <a:pPr algn="l">
              <a:lnSpc>
                <a:spcPct val="135000"/>
              </a:lnSpc>
            </a:pPr>
            <a:r>
              <a:rPr sz="3000" b="1">
                <a:solidFill>
                  <a:srgbClr val="0A3D5C"/>
                </a:solidFill>
                <a:latin typeface="NanumGothic"/>
              </a:rPr>
              <a:t>다음 단계 — 한 번 만들고 끝나는 자료가 아닙니다</a:t>
            </a:r>
          </a:p>
        </p:txBody>
      </p:sp>
      <p:sp>
        <p:nvSpPr>
          <p:cNvPr id="5" name="TextBox 4"/>
          <p:cNvSpPr txBox="1"/>
          <p:nvPr/>
        </p:nvSpPr>
        <p:spPr>
          <a:xfrm>
            <a:off x="1371600" y="1078992"/>
            <a:ext cx="9966960" cy="457200"/>
          </a:xfrm>
          <a:prstGeom prst="rect">
            <a:avLst/>
          </a:prstGeom>
          <a:noFill/>
        </p:spPr>
        <p:txBody>
          <a:bodyPr wrap="square" lIns="0" tIns="0" rIns="0" bIns="0" anchor="t">
            <a:spAutoFit/>
          </a:bodyPr>
          <a:lstStyle/>
          <a:p>
            <a:pPr algn="l">
              <a:lnSpc>
                <a:spcPct val="135000"/>
              </a:lnSpc>
            </a:pPr>
            <a:r>
              <a:rPr sz="1450" b="0">
                <a:solidFill>
                  <a:srgbClr val="6C757D"/>
                </a:solidFill>
                <a:latin typeface="NanumGothic"/>
              </a:rPr>
              <a:t>국가지속가능성 평가는 2년마다 새로 나옵니다. 처음에는 사람이 반영하고, 점차 자동으로 넘깁니다.</a:t>
            </a:r>
          </a:p>
        </p:txBody>
      </p:sp>
      <p:sp>
        <p:nvSpPr>
          <p:cNvPr id="6" name="Rectangle 5"/>
          <p:cNvSpPr/>
          <p:nvPr/>
        </p:nvSpPr>
        <p:spPr>
          <a:xfrm>
            <a:off x="777240" y="1664208"/>
            <a:ext cx="10637215" cy="15240"/>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77240" y="2011680"/>
            <a:ext cx="3456432" cy="3017520"/>
          </a:xfrm>
          <a:prstGeom prst="roundRect">
            <a:avLst>
              <a:gd name="adj" fmla="val 6000"/>
            </a:avLst>
          </a:prstGeom>
          <a:solidFill>
            <a:srgbClr val="F7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240280"/>
            <a:ext cx="2926080" cy="274320"/>
          </a:xfrm>
          <a:prstGeom prst="rect">
            <a:avLst/>
          </a:prstGeom>
          <a:noFill/>
        </p:spPr>
        <p:txBody>
          <a:bodyPr wrap="square" lIns="0" tIns="0" rIns="0" bIns="0" anchor="t">
            <a:spAutoFit/>
          </a:bodyPr>
          <a:lstStyle/>
          <a:p>
            <a:pPr algn="l">
              <a:lnSpc>
                <a:spcPct val="135000"/>
              </a:lnSpc>
            </a:pPr>
            <a:r>
              <a:rPr sz="1100" b="1">
                <a:solidFill>
                  <a:srgbClr val="2B8A3E"/>
                </a:solidFill>
                <a:latin typeface="NanumGothic"/>
              </a:rPr>
              <a:t>지금까지</a:t>
            </a:r>
          </a:p>
        </p:txBody>
      </p:sp>
      <p:sp>
        <p:nvSpPr>
          <p:cNvPr id="9" name="TextBox 8"/>
          <p:cNvSpPr txBox="1"/>
          <p:nvPr/>
        </p:nvSpPr>
        <p:spPr>
          <a:xfrm>
            <a:off x="1051560" y="2542032"/>
            <a:ext cx="2926080" cy="411480"/>
          </a:xfrm>
          <a:prstGeom prst="rect">
            <a:avLst/>
          </a:prstGeom>
          <a:noFill/>
        </p:spPr>
        <p:txBody>
          <a:bodyPr wrap="square" lIns="0" tIns="0" rIns="0" bIns="0" anchor="t">
            <a:spAutoFit/>
          </a:bodyPr>
          <a:lstStyle/>
          <a:p>
            <a:pPr algn="l">
              <a:lnSpc>
                <a:spcPct val="135000"/>
              </a:lnSpc>
            </a:pPr>
            <a:r>
              <a:rPr lang="ko-KR" altLang="en-US" sz="2200" b="1" dirty="0">
                <a:solidFill>
                  <a:srgbClr val="0A3D5C"/>
                </a:solidFill>
                <a:latin typeface="나눔고딕" panose="020D0604000000000000" pitchFamily="50" charset="-127"/>
                <a:ea typeface="나눔고딕" panose="020D0604000000000000" pitchFamily="50" charset="-127"/>
              </a:rPr>
              <a:t>데이터를 채웠다</a:t>
            </a:r>
            <a:endParaRPr sz="2200" b="1" dirty="0">
              <a:solidFill>
                <a:srgbClr val="0A3D5C"/>
              </a:solidFill>
              <a:latin typeface="나눔고딕" panose="020D0604000000000000" pitchFamily="50" charset="-127"/>
              <a:ea typeface="나눔고딕" panose="020D0604000000000000" pitchFamily="50" charset="-127"/>
            </a:endParaRPr>
          </a:p>
        </p:txBody>
      </p:sp>
      <p:sp>
        <p:nvSpPr>
          <p:cNvPr id="10" name="Oval 9"/>
          <p:cNvSpPr/>
          <p:nvPr/>
        </p:nvSpPr>
        <p:spPr>
          <a:xfrm>
            <a:off x="1069848" y="3200400"/>
            <a:ext cx="91440" cy="91440"/>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3127248"/>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지표 체계를 DB로</a:t>
            </a:r>
          </a:p>
        </p:txBody>
      </p:sp>
      <p:sp>
        <p:nvSpPr>
          <p:cNvPr id="12" name="Oval 11"/>
          <p:cNvSpPr/>
          <p:nvPr/>
        </p:nvSpPr>
        <p:spPr>
          <a:xfrm>
            <a:off x="1069848" y="3584448"/>
            <a:ext cx="91440" cy="91440"/>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3511296"/>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네 출처를 대조해 검증</a:t>
            </a:r>
          </a:p>
        </p:txBody>
      </p:sp>
      <p:sp>
        <p:nvSpPr>
          <p:cNvPr id="14" name="Oval 13"/>
          <p:cNvSpPr/>
          <p:nvPr/>
        </p:nvSpPr>
        <p:spPr>
          <a:xfrm>
            <a:off x="1069848" y="3968496"/>
            <a:ext cx="91440" cy="91440"/>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3895344"/>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UN 대응 · 통계 연결</a:t>
            </a:r>
          </a:p>
        </p:txBody>
      </p:sp>
      <p:sp>
        <p:nvSpPr>
          <p:cNvPr id="16" name="Oval 15"/>
          <p:cNvSpPr/>
          <p:nvPr/>
        </p:nvSpPr>
        <p:spPr>
          <a:xfrm>
            <a:off x="1069848" y="4352544"/>
            <a:ext cx="91440" cy="91440"/>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80160" y="4279392"/>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화면에서 고칠 수 있게</a:t>
            </a:r>
          </a:p>
        </p:txBody>
      </p:sp>
      <p:sp>
        <p:nvSpPr>
          <p:cNvPr id="18" name="Rounded Rectangle 17"/>
          <p:cNvSpPr/>
          <p:nvPr/>
        </p:nvSpPr>
        <p:spPr>
          <a:xfrm>
            <a:off x="4379976" y="2011680"/>
            <a:ext cx="3456432" cy="3017520"/>
          </a:xfrm>
          <a:prstGeom prst="roundRect">
            <a:avLst>
              <a:gd name="adj" fmla="val 6000"/>
            </a:avLst>
          </a:prstGeom>
          <a:solidFill>
            <a:srgbClr val="FFFFFF"/>
          </a:solidFill>
          <a:ln w="15875">
            <a:solidFill>
              <a:srgbClr val="C9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54296" y="2240280"/>
            <a:ext cx="2926080" cy="274320"/>
          </a:xfrm>
          <a:prstGeom prst="rect">
            <a:avLst/>
          </a:prstGeom>
          <a:noFill/>
        </p:spPr>
        <p:txBody>
          <a:bodyPr wrap="square" lIns="0" tIns="0" rIns="0" bIns="0" anchor="t">
            <a:spAutoFit/>
          </a:bodyPr>
          <a:lstStyle/>
          <a:p>
            <a:pPr algn="l">
              <a:lnSpc>
                <a:spcPct val="135000"/>
              </a:lnSpc>
            </a:pPr>
            <a:r>
              <a:rPr sz="1100" b="1">
                <a:solidFill>
                  <a:srgbClr val="C98A1E"/>
                </a:solidFill>
                <a:latin typeface="NanumGothic"/>
              </a:rPr>
              <a:t>다음</a:t>
            </a:r>
          </a:p>
        </p:txBody>
      </p:sp>
      <p:sp>
        <p:nvSpPr>
          <p:cNvPr id="20" name="TextBox 19"/>
          <p:cNvSpPr txBox="1"/>
          <p:nvPr/>
        </p:nvSpPr>
        <p:spPr>
          <a:xfrm>
            <a:off x="4654296" y="2542032"/>
            <a:ext cx="2926080" cy="411480"/>
          </a:xfrm>
          <a:prstGeom prst="rect">
            <a:avLst/>
          </a:prstGeom>
          <a:noFill/>
        </p:spPr>
        <p:txBody>
          <a:bodyPr wrap="square" lIns="0" tIns="0" rIns="0" bIns="0" anchor="t">
            <a:spAutoFit/>
          </a:bodyPr>
          <a:lstStyle/>
          <a:p>
            <a:pPr algn="l">
              <a:lnSpc>
                <a:spcPct val="135000"/>
              </a:lnSpc>
            </a:pPr>
            <a:r>
              <a:rPr sz="2200" b="1" dirty="0" err="1">
                <a:solidFill>
                  <a:srgbClr val="0A3D5C"/>
                </a:solidFill>
                <a:latin typeface="NanumGothic"/>
              </a:rPr>
              <a:t>검수하고</a:t>
            </a:r>
            <a:r>
              <a:rPr sz="2200" b="1" dirty="0">
                <a:solidFill>
                  <a:srgbClr val="0A3D5C"/>
                </a:solidFill>
                <a:latin typeface="NanumGothic"/>
              </a:rPr>
              <a:t> </a:t>
            </a:r>
            <a:r>
              <a:rPr sz="2200" b="1" dirty="0" err="1">
                <a:solidFill>
                  <a:srgbClr val="0A3D5C"/>
                </a:solidFill>
                <a:latin typeface="NanumGothic"/>
              </a:rPr>
              <a:t>갱신한다</a:t>
            </a:r>
            <a:endParaRPr sz="2200" b="1" dirty="0">
              <a:solidFill>
                <a:srgbClr val="0A3D5C"/>
              </a:solidFill>
              <a:latin typeface="NanumGothic"/>
            </a:endParaRPr>
          </a:p>
        </p:txBody>
      </p:sp>
      <p:sp>
        <p:nvSpPr>
          <p:cNvPr id="21" name="Oval 20"/>
          <p:cNvSpPr/>
          <p:nvPr/>
        </p:nvSpPr>
        <p:spPr>
          <a:xfrm>
            <a:off x="4672584" y="3200400"/>
            <a:ext cx="91440" cy="9144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82896" y="3127248"/>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소관 부서 확인</a:t>
            </a:r>
          </a:p>
        </p:txBody>
      </p:sp>
      <p:sp>
        <p:nvSpPr>
          <p:cNvPr id="23" name="Oval 22"/>
          <p:cNvSpPr/>
          <p:nvPr/>
        </p:nvSpPr>
        <p:spPr>
          <a:xfrm>
            <a:off x="4672584" y="3584448"/>
            <a:ext cx="91440" cy="9144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82896" y="3511296"/>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기계가 이은 연결 검수</a:t>
            </a:r>
          </a:p>
        </p:txBody>
      </p:sp>
      <p:sp>
        <p:nvSpPr>
          <p:cNvPr id="25" name="Oval 24"/>
          <p:cNvSpPr/>
          <p:nvPr/>
        </p:nvSpPr>
        <p:spPr>
          <a:xfrm>
            <a:off x="4672584" y="3968496"/>
            <a:ext cx="91440" cy="91440"/>
          </a:xfrm>
          <a:prstGeom prst="ellipse">
            <a:avLst/>
          </a:prstGeom>
          <a:solidFill>
            <a:srgbClr val="C9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82896" y="3895344"/>
            <a:ext cx="2743200" cy="214611"/>
          </a:xfrm>
          <a:prstGeom prst="rect">
            <a:avLst/>
          </a:prstGeom>
          <a:noFill/>
        </p:spPr>
        <p:txBody>
          <a:bodyPr wrap="square" lIns="0" tIns="0" rIns="0" bIns="0" anchor="t">
            <a:spAutoFit/>
          </a:bodyPr>
          <a:lstStyle/>
          <a:p>
            <a:pPr algn="l">
              <a:lnSpc>
                <a:spcPct val="135000"/>
              </a:lnSpc>
            </a:pPr>
            <a:r>
              <a:rPr sz="1150" b="0" dirty="0">
                <a:solidFill>
                  <a:srgbClr val="1A1D21"/>
                </a:solidFill>
                <a:latin typeface="나눔고딕" panose="020D0604000000000000" pitchFamily="50" charset="-127"/>
                <a:ea typeface="나눔고딕" panose="020D0604000000000000" pitchFamily="50" charset="-127"/>
              </a:rPr>
              <a:t>새 </a:t>
            </a:r>
            <a:r>
              <a:rPr sz="1150" b="0" dirty="0" err="1">
                <a:solidFill>
                  <a:srgbClr val="1A1D21"/>
                </a:solidFill>
                <a:latin typeface="나눔고딕" panose="020D0604000000000000" pitchFamily="50" charset="-127"/>
                <a:ea typeface="나눔고딕" panose="020D0604000000000000" pitchFamily="50" charset="-127"/>
              </a:rPr>
              <a:t>보고서가</a:t>
            </a:r>
            <a:r>
              <a:rPr sz="1150" b="0" dirty="0">
                <a:solidFill>
                  <a:srgbClr val="1A1D21"/>
                </a:solidFill>
                <a:latin typeface="나눔고딕" panose="020D0604000000000000" pitchFamily="50" charset="-127"/>
                <a:ea typeface="나눔고딕" panose="020D0604000000000000" pitchFamily="50" charset="-127"/>
              </a:rPr>
              <a:t> </a:t>
            </a:r>
            <a:r>
              <a:rPr sz="1150" b="0" dirty="0" err="1">
                <a:solidFill>
                  <a:srgbClr val="1A1D21"/>
                </a:solidFill>
                <a:latin typeface="나눔고딕" panose="020D0604000000000000" pitchFamily="50" charset="-127"/>
                <a:ea typeface="나눔고딕" panose="020D0604000000000000" pitchFamily="50" charset="-127"/>
              </a:rPr>
              <a:t>나오면</a:t>
            </a:r>
            <a:r>
              <a:rPr sz="1150" b="0" dirty="0">
                <a:solidFill>
                  <a:srgbClr val="1A1D21"/>
                </a:solidFill>
                <a:latin typeface="나눔고딕" panose="020D0604000000000000" pitchFamily="50" charset="-127"/>
                <a:ea typeface="나눔고딕" panose="020D0604000000000000" pitchFamily="50" charset="-127"/>
              </a:rPr>
              <a:t> </a:t>
            </a:r>
            <a:r>
              <a:rPr sz="1150" b="0" dirty="0" err="1">
                <a:solidFill>
                  <a:srgbClr val="1A1D21"/>
                </a:solidFill>
                <a:latin typeface="나눔고딕" panose="020D0604000000000000" pitchFamily="50" charset="-127"/>
                <a:ea typeface="나눔고딕" panose="020D0604000000000000" pitchFamily="50" charset="-127"/>
              </a:rPr>
              <a:t>사람이</a:t>
            </a:r>
            <a:r>
              <a:rPr sz="1150" b="0" dirty="0">
                <a:solidFill>
                  <a:srgbClr val="1A1D21"/>
                </a:solidFill>
                <a:latin typeface="나눔고딕" panose="020D0604000000000000" pitchFamily="50" charset="-127"/>
                <a:ea typeface="나눔고딕" panose="020D0604000000000000" pitchFamily="50" charset="-127"/>
              </a:rPr>
              <a:t> </a:t>
            </a:r>
            <a:r>
              <a:rPr lang="ko-KR" altLang="en-US" sz="1150" dirty="0">
                <a:solidFill>
                  <a:srgbClr val="1A1D21"/>
                </a:solidFill>
                <a:latin typeface="나눔고딕" panose="020D0604000000000000" pitchFamily="50" charset="-127"/>
                <a:ea typeface="나눔고딕" panose="020D0604000000000000" pitchFamily="50" charset="-127"/>
              </a:rPr>
              <a:t>업로드</a:t>
            </a:r>
            <a:endParaRPr sz="1150" b="0" dirty="0">
              <a:solidFill>
                <a:srgbClr val="1A1D21"/>
              </a:solidFill>
              <a:latin typeface="나눔고딕" panose="020D0604000000000000" pitchFamily="50" charset="-127"/>
              <a:ea typeface="나눔고딕" panose="020D0604000000000000" pitchFamily="50" charset="-127"/>
            </a:endParaRPr>
          </a:p>
        </p:txBody>
      </p:sp>
      <p:sp>
        <p:nvSpPr>
          <p:cNvPr id="27" name="Rounded Rectangle 26"/>
          <p:cNvSpPr/>
          <p:nvPr/>
        </p:nvSpPr>
        <p:spPr>
          <a:xfrm>
            <a:off x="7982712" y="2011680"/>
            <a:ext cx="3456432" cy="3017520"/>
          </a:xfrm>
          <a:prstGeom prst="roundRect">
            <a:avLst>
              <a:gd name="adj" fmla="val 6000"/>
            </a:avLst>
          </a:prstGeom>
          <a:solidFill>
            <a:srgbClr val="FFFFFF"/>
          </a:solidFill>
          <a:ln w="15875">
            <a:solidFill>
              <a:srgbClr val="933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57032" y="2240280"/>
            <a:ext cx="2926080" cy="274320"/>
          </a:xfrm>
          <a:prstGeom prst="rect">
            <a:avLst/>
          </a:prstGeom>
          <a:noFill/>
        </p:spPr>
        <p:txBody>
          <a:bodyPr wrap="square" lIns="0" tIns="0" rIns="0" bIns="0" anchor="t">
            <a:spAutoFit/>
          </a:bodyPr>
          <a:lstStyle/>
          <a:p>
            <a:pPr algn="l">
              <a:lnSpc>
                <a:spcPct val="135000"/>
              </a:lnSpc>
            </a:pPr>
            <a:r>
              <a:rPr sz="1100" b="1">
                <a:solidFill>
                  <a:srgbClr val="9333EA"/>
                </a:solidFill>
                <a:latin typeface="NanumGothic"/>
              </a:rPr>
              <a:t>그 다음</a:t>
            </a:r>
          </a:p>
        </p:txBody>
      </p:sp>
      <p:sp>
        <p:nvSpPr>
          <p:cNvPr id="29" name="TextBox 28"/>
          <p:cNvSpPr txBox="1"/>
          <p:nvPr/>
        </p:nvSpPr>
        <p:spPr>
          <a:xfrm>
            <a:off x="8257032" y="2542032"/>
            <a:ext cx="2926080" cy="411480"/>
          </a:xfrm>
          <a:prstGeom prst="rect">
            <a:avLst/>
          </a:prstGeom>
          <a:noFill/>
        </p:spPr>
        <p:txBody>
          <a:bodyPr wrap="square" lIns="0" tIns="0" rIns="0" bIns="0" anchor="t">
            <a:spAutoFit/>
          </a:bodyPr>
          <a:lstStyle/>
          <a:p>
            <a:pPr algn="l">
              <a:lnSpc>
                <a:spcPct val="135000"/>
              </a:lnSpc>
            </a:pPr>
            <a:r>
              <a:rPr sz="2200" b="1">
                <a:solidFill>
                  <a:srgbClr val="0A3D5C"/>
                </a:solidFill>
                <a:latin typeface="NanumGothic"/>
              </a:rPr>
              <a:t>갱신을 자동으로</a:t>
            </a:r>
          </a:p>
        </p:txBody>
      </p:sp>
      <p:sp>
        <p:nvSpPr>
          <p:cNvPr id="30" name="Oval 29"/>
          <p:cNvSpPr/>
          <p:nvPr/>
        </p:nvSpPr>
        <p:spPr>
          <a:xfrm>
            <a:off x="8275320" y="3200400"/>
            <a:ext cx="91440" cy="91440"/>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85632" y="3127248"/>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새 자료를 스스로 읽어 들이고</a:t>
            </a:r>
          </a:p>
        </p:txBody>
      </p:sp>
      <p:sp>
        <p:nvSpPr>
          <p:cNvPr id="32" name="Oval 31"/>
          <p:cNvSpPr/>
          <p:nvPr/>
        </p:nvSpPr>
        <p:spPr>
          <a:xfrm>
            <a:off x="8275320" y="3584448"/>
            <a:ext cx="91440" cy="91440"/>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85632" y="3511296"/>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달라진 곳만 사람에게 올리고</a:t>
            </a:r>
          </a:p>
        </p:txBody>
      </p:sp>
      <p:sp>
        <p:nvSpPr>
          <p:cNvPr id="34" name="Oval 33"/>
          <p:cNvSpPr/>
          <p:nvPr/>
        </p:nvSpPr>
        <p:spPr>
          <a:xfrm>
            <a:off x="8275320" y="3968496"/>
            <a:ext cx="91440" cy="91440"/>
          </a:xfrm>
          <a:prstGeom prst="ellipse">
            <a:avLst/>
          </a:prstGeom>
          <a:solidFill>
            <a:srgbClr val="933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85632" y="3895344"/>
            <a:ext cx="2743200" cy="274320"/>
          </a:xfrm>
          <a:prstGeom prst="rect">
            <a:avLst/>
          </a:prstGeom>
          <a:noFill/>
        </p:spPr>
        <p:txBody>
          <a:bodyPr wrap="square" lIns="0" tIns="0" rIns="0" bIns="0" anchor="t">
            <a:spAutoFit/>
          </a:bodyPr>
          <a:lstStyle/>
          <a:p>
            <a:pPr algn="l">
              <a:lnSpc>
                <a:spcPct val="135000"/>
              </a:lnSpc>
            </a:pPr>
            <a:r>
              <a:rPr sz="1150" b="0">
                <a:solidFill>
                  <a:srgbClr val="1A1D21"/>
                </a:solidFill>
                <a:latin typeface="NanumGothic"/>
              </a:rPr>
              <a:t>지표 간 관계까지 분석</a:t>
            </a:r>
          </a:p>
        </p:txBody>
      </p:sp>
      <p:sp>
        <p:nvSpPr>
          <p:cNvPr id="36" name="Rounded Rectangle 35"/>
          <p:cNvSpPr/>
          <p:nvPr/>
        </p:nvSpPr>
        <p:spPr>
          <a:xfrm>
            <a:off x="777240" y="5257800"/>
            <a:ext cx="10637215" cy="960120"/>
          </a:xfrm>
          <a:prstGeom prst="roundRect">
            <a:avLst>
              <a:gd name="adj" fmla="val 6000"/>
            </a:avLst>
          </a:prstGeom>
          <a:solidFill>
            <a:srgbClr val="0A3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77240" y="5468112"/>
            <a:ext cx="10637215" cy="354521"/>
          </a:xfrm>
          <a:prstGeom prst="rect">
            <a:avLst/>
          </a:prstGeom>
          <a:noFill/>
        </p:spPr>
        <p:txBody>
          <a:bodyPr wrap="square" lIns="0" tIns="0" rIns="0" bIns="0" anchor="t">
            <a:spAutoFit/>
          </a:bodyPr>
          <a:lstStyle/>
          <a:p>
            <a:pPr algn="ctr">
              <a:lnSpc>
                <a:spcPct val="135000"/>
              </a:lnSpc>
            </a:pPr>
            <a:r>
              <a:rPr sz="1900" b="1" dirty="0" err="1">
                <a:solidFill>
                  <a:srgbClr val="FFFFFF"/>
                </a:solidFill>
                <a:latin typeface="나눔고딕" panose="020D0604000000000000" pitchFamily="50" charset="-127"/>
                <a:ea typeface="나눔고딕" panose="020D0604000000000000" pitchFamily="50" charset="-127"/>
              </a:rPr>
              <a:t>AI가</a:t>
            </a:r>
            <a:r>
              <a:rPr sz="1900" b="1" dirty="0">
                <a:solidFill>
                  <a:srgbClr val="FFFFFF"/>
                </a:solidFill>
                <a:latin typeface="나눔고딕" panose="020D0604000000000000" pitchFamily="50" charset="-127"/>
                <a:ea typeface="나눔고딕" panose="020D0604000000000000" pitchFamily="50" charset="-127"/>
              </a:rPr>
              <a:t> </a:t>
            </a:r>
            <a:r>
              <a:rPr lang="ko-KR" altLang="en-US" sz="1900" b="1" dirty="0">
                <a:solidFill>
                  <a:srgbClr val="FFFFFF"/>
                </a:solidFill>
                <a:latin typeface="나눔고딕" panose="020D0604000000000000" pitchFamily="50" charset="-127"/>
                <a:ea typeface="나눔고딕" panose="020D0604000000000000" pitchFamily="50" charset="-127"/>
              </a:rPr>
              <a:t>대부분 작업</a:t>
            </a:r>
            <a:r>
              <a:rPr sz="1900" b="1" dirty="0">
                <a:solidFill>
                  <a:srgbClr val="FFFFFF"/>
                </a:solidFill>
                <a:latin typeface="나눔고딕" panose="020D0604000000000000" pitchFamily="50" charset="-127"/>
                <a:ea typeface="나눔고딕" panose="020D0604000000000000" pitchFamily="50" charset="-127"/>
              </a:rPr>
              <a:t>를 </a:t>
            </a:r>
            <a:r>
              <a:rPr sz="1900" b="1" dirty="0" err="1">
                <a:solidFill>
                  <a:srgbClr val="FFFFFF"/>
                </a:solidFill>
                <a:latin typeface="나눔고딕" panose="020D0604000000000000" pitchFamily="50" charset="-127"/>
                <a:ea typeface="나눔고딕" panose="020D0604000000000000" pitchFamily="50" charset="-127"/>
              </a:rPr>
              <a:t>감당하고</a:t>
            </a:r>
            <a:r>
              <a:rPr sz="1900" b="1" dirty="0">
                <a:solidFill>
                  <a:srgbClr val="FFFFFF"/>
                </a:solidFill>
                <a:latin typeface="나눔고딕" panose="020D0604000000000000" pitchFamily="50" charset="-127"/>
                <a:ea typeface="나눔고딕" panose="020D0604000000000000" pitchFamily="50" charset="-127"/>
              </a:rPr>
              <a:t>, </a:t>
            </a:r>
            <a:r>
              <a:rPr sz="1900" b="1" dirty="0" err="1">
                <a:solidFill>
                  <a:srgbClr val="FFFFFF"/>
                </a:solidFill>
                <a:latin typeface="나눔고딕" panose="020D0604000000000000" pitchFamily="50" charset="-127"/>
                <a:ea typeface="나눔고딕" panose="020D0604000000000000" pitchFamily="50" charset="-127"/>
              </a:rPr>
              <a:t>사람이</a:t>
            </a:r>
            <a:r>
              <a:rPr sz="1900" b="1" dirty="0">
                <a:solidFill>
                  <a:srgbClr val="FFFFFF"/>
                </a:solidFill>
                <a:latin typeface="나눔고딕" panose="020D0604000000000000" pitchFamily="50" charset="-127"/>
                <a:ea typeface="나눔고딕" panose="020D0604000000000000" pitchFamily="50" charset="-127"/>
              </a:rPr>
              <a:t> </a:t>
            </a:r>
            <a:r>
              <a:rPr sz="1900" b="1" dirty="0" err="1">
                <a:solidFill>
                  <a:srgbClr val="FFFFFF"/>
                </a:solidFill>
                <a:latin typeface="나눔고딕" panose="020D0604000000000000" pitchFamily="50" charset="-127"/>
                <a:ea typeface="나눔고딕" panose="020D0604000000000000" pitchFamily="50" charset="-127"/>
              </a:rPr>
              <a:t>무엇이</a:t>
            </a:r>
            <a:r>
              <a:rPr sz="1900" b="1" dirty="0">
                <a:solidFill>
                  <a:srgbClr val="FFFFFF"/>
                </a:solidFill>
                <a:latin typeface="나눔고딕" panose="020D0604000000000000" pitchFamily="50" charset="-127"/>
                <a:ea typeface="나눔고딕" panose="020D0604000000000000" pitchFamily="50" charset="-127"/>
              </a:rPr>
              <a:t> </a:t>
            </a:r>
            <a:r>
              <a:rPr sz="1900" b="1" dirty="0" err="1">
                <a:solidFill>
                  <a:srgbClr val="FFFFFF"/>
                </a:solidFill>
                <a:latin typeface="나눔고딕" panose="020D0604000000000000" pitchFamily="50" charset="-127"/>
                <a:ea typeface="나눔고딕" panose="020D0604000000000000" pitchFamily="50" charset="-127"/>
              </a:rPr>
              <a:t>맞는지</a:t>
            </a:r>
            <a:r>
              <a:rPr sz="1900" b="1" dirty="0">
                <a:solidFill>
                  <a:srgbClr val="FFFFFF"/>
                </a:solidFill>
                <a:latin typeface="나눔고딕" panose="020D0604000000000000" pitchFamily="50" charset="-127"/>
                <a:ea typeface="나눔고딕" panose="020D0604000000000000" pitchFamily="50" charset="-127"/>
              </a:rPr>
              <a:t> </a:t>
            </a:r>
            <a:r>
              <a:rPr sz="1900" b="1" dirty="0" err="1">
                <a:solidFill>
                  <a:srgbClr val="FFFFFF"/>
                </a:solidFill>
                <a:latin typeface="나눔고딕" panose="020D0604000000000000" pitchFamily="50" charset="-127"/>
                <a:ea typeface="나눔고딕" panose="020D0604000000000000" pitchFamily="50" charset="-127"/>
              </a:rPr>
              <a:t>정합니다</a:t>
            </a:r>
            <a:endParaRPr sz="1900" b="1" dirty="0">
              <a:solidFill>
                <a:srgbClr val="FFFFFF"/>
              </a:solidFill>
              <a:latin typeface="나눔고딕" panose="020D0604000000000000" pitchFamily="50" charset="-127"/>
              <a:ea typeface="나눔고딕" panose="020D0604000000000000" pitchFamily="50" charset="-127"/>
            </a:endParaRPr>
          </a:p>
        </p:txBody>
      </p:sp>
      <p:sp>
        <p:nvSpPr>
          <p:cNvPr id="38" name="TextBox 37"/>
          <p:cNvSpPr txBox="1"/>
          <p:nvPr/>
        </p:nvSpPr>
        <p:spPr>
          <a:xfrm>
            <a:off x="777240" y="5870448"/>
            <a:ext cx="10637215" cy="274320"/>
          </a:xfrm>
          <a:prstGeom prst="rect">
            <a:avLst/>
          </a:prstGeom>
          <a:noFill/>
        </p:spPr>
        <p:txBody>
          <a:bodyPr wrap="square" lIns="0" tIns="0" rIns="0" bIns="0" anchor="t">
            <a:spAutoFit/>
          </a:bodyPr>
          <a:lstStyle/>
          <a:p>
            <a:pPr algn="ctr">
              <a:lnSpc>
                <a:spcPct val="135000"/>
              </a:lnSpc>
            </a:pPr>
            <a:r>
              <a:rPr sz="1200" b="0">
                <a:solidFill>
                  <a:srgbClr val="9FC5DC"/>
                </a:solidFill>
                <a:latin typeface="NanumGothic"/>
              </a:rPr>
              <a:t>갱신이 자동으로 돌아가도, 달라진 값을 확인하는 자리는 남겨 둡니다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1922</Words>
  <Application>Microsoft Office PowerPoint</Application>
  <PresentationFormat>와이드스크린</PresentationFormat>
  <Paragraphs>255</Paragraphs>
  <Slides>11</Slides>
  <Notes>11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11</vt:i4>
      </vt:variant>
    </vt:vector>
  </HeadingPairs>
  <TitlesOfParts>
    <vt:vector size="17" baseType="lpstr">
      <vt:lpstr>NanumGothic</vt:lpstr>
      <vt:lpstr>NanumGothic</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KEI</cp:lastModifiedBy>
  <cp:revision>11</cp:revision>
  <dcterms:created xsi:type="dcterms:W3CDTF">2013-01-27T09:14:16Z</dcterms:created>
  <dcterms:modified xsi:type="dcterms:W3CDTF">2026-09-08T01:18:54Z</dcterms:modified>
  <cp:category/>
</cp:coreProperties>
</file>